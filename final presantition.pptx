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Red Hat Display" charset="1" panose="02010503040201060303"/>
      <p:regular r:id="rId10"/>
    </p:embeddedFont>
    <p:embeddedFont>
      <p:font typeface="Red Hat Display Bold" charset="1" panose="02010803040201060303"/>
      <p:regular r:id="rId11"/>
    </p:embeddedFont>
    <p:embeddedFont>
      <p:font typeface="Red Hat Display Italics" charset="1" panose="020105030402010D0303"/>
      <p:regular r:id="rId12"/>
    </p:embeddedFont>
    <p:embeddedFont>
      <p:font typeface="Red Hat Display Bold Italics" charset="1" panose="020108030402010D0303"/>
      <p:regular r:id="rId13"/>
    </p:embeddedFont>
    <p:embeddedFont>
      <p:font typeface="Angella White" charset="1" panose="02000503000000020003"/>
      <p:regular r:id="rId14"/>
    </p:embeddedFont>
    <p:embeddedFont>
      <p:font typeface="The Seasons" charset="1" panose="00000000000000000000"/>
      <p:regular r:id="rId15"/>
    </p:embeddedFont>
    <p:embeddedFont>
      <p:font typeface="The Seasons Bold" charset="1" panose="00000000000000000000"/>
      <p:regular r:id="rId16"/>
    </p:embeddedFont>
    <p:embeddedFont>
      <p:font typeface="The Seasons Italics" charset="1" panose="00000000000000000000"/>
      <p:regular r:id="rId17"/>
    </p:embeddedFont>
    <p:embeddedFont>
      <p:font typeface="The Seasons Bold Italics"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slides/slide1.xml" Type="http://schemas.openxmlformats.org/officeDocument/2006/relationships/slide"/><Relationship Id="rId2" Target="presProps.xml" Type="http://schemas.openxmlformats.org/officeDocument/2006/relationships/presProps"/><Relationship Id="rId20" Target="slides/slide2.xml" Type="http://schemas.openxmlformats.org/officeDocument/2006/relationships/slide"/><Relationship Id="rId21" Target="slides/slide3.xml" Type="http://schemas.openxmlformats.org/officeDocument/2006/relationships/slide"/><Relationship Id="rId22" Target="slides/slide4.xml" Type="http://schemas.openxmlformats.org/officeDocument/2006/relationships/slide"/><Relationship Id="rId23" Target="slides/slide5.xml" Type="http://schemas.openxmlformats.org/officeDocument/2006/relationships/slide"/><Relationship Id="rId24" Target="slides/slide6.xml" Type="http://schemas.openxmlformats.org/officeDocument/2006/relationships/slide"/><Relationship Id="rId25" Target="slides/slide7.xml" Type="http://schemas.openxmlformats.org/officeDocument/2006/relationships/slide"/><Relationship Id="rId26" Target="slides/slide8.xml" Type="http://schemas.openxmlformats.org/officeDocument/2006/relationships/slide"/><Relationship Id="rId27" Target="slides/slide9.xml" Type="http://schemas.openxmlformats.org/officeDocument/2006/relationships/slide"/><Relationship Id="rId28" Target="slides/slide10.xml" Type="http://schemas.openxmlformats.org/officeDocument/2006/relationships/slide"/><Relationship Id="rId29" Target="slides/slide11.xml" Type="http://schemas.openxmlformats.org/officeDocument/2006/relationships/slide"/><Relationship Id="rId3" Target="viewProps.xml" Type="http://schemas.openxmlformats.org/officeDocument/2006/relationships/viewProps"/><Relationship Id="rId30" Target="slides/slide12.xml" Type="http://schemas.openxmlformats.org/officeDocument/2006/relationships/slide"/><Relationship Id="rId31" Target="slides/slide13.xml" Type="http://schemas.openxmlformats.org/officeDocument/2006/relationships/slide"/><Relationship Id="rId32" Target="slides/slide14.xml" Type="http://schemas.openxmlformats.org/officeDocument/2006/relationships/slide"/><Relationship Id="rId33" Target="slides/slide15.xml" Type="http://schemas.openxmlformats.org/officeDocument/2006/relationships/slide"/><Relationship Id="rId34" Target="slides/slide16.xml" Type="http://schemas.openxmlformats.org/officeDocument/2006/relationships/slide"/><Relationship Id="rId35" Target="slides/slide17.xml" Type="http://schemas.openxmlformats.org/officeDocument/2006/relationships/slide"/><Relationship Id="rId36" Target="slides/slide18.xml" Type="http://schemas.openxmlformats.org/officeDocument/2006/relationships/slide"/><Relationship Id="rId37" Target="slides/slide19.xml" Type="http://schemas.openxmlformats.org/officeDocument/2006/relationships/slide"/><Relationship Id="rId38" Target="slides/slide20.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9.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grpSp>
        <p:nvGrpSpPr>
          <p:cNvPr name="Group 2" id="2"/>
          <p:cNvGrpSpPr/>
          <p:nvPr/>
        </p:nvGrpSpPr>
        <p:grpSpPr>
          <a:xfrm rot="0">
            <a:off x="3522457" y="819150"/>
            <a:ext cx="8286750" cy="3143250"/>
            <a:chOff x="0" y="0"/>
            <a:chExt cx="2182519" cy="827852"/>
          </a:xfrm>
        </p:grpSpPr>
        <p:sp>
          <p:nvSpPr>
            <p:cNvPr name="Freeform 3" id="3"/>
            <p:cNvSpPr/>
            <p:nvPr/>
          </p:nvSpPr>
          <p:spPr>
            <a:xfrm flipH="false" flipV="false" rot="0">
              <a:off x="0" y="0"/>
              <a:ext cx="2182519" cy="827852"/>
            </a:xfrm>
            <a:custGeom>
              <a:avLst/>
              <a:gdLst/>
              <a:ahLst/>
              <a:cxnLst/>
              <a:rect r="r" b="b" t="t" l="l"/>
              <a:pathLst>
                <a:path h="827852" w="2182519">
                  <a:moveTo>
                    <a:pt x="0" y="0"/>
                  </a:moveTo>
                  <a:lnTo>
                    <a:pt x="2182519" y="0"/>
                  </a:lnTo>
                  <a:lnTo>
                    <a:pt x="2182519" y="827852"/>
                  </a:lnTo>
                  <a:lnTo>
                    <a:pt x="0" y="827852"/>
                  </a:lnTo>
                  <a:close/>
                </a:path>
              </a:pathLst>
            </a:custGeom>
            <a:solidFill>
              <a:srgbClr val="E6E3DE"/>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4389268" y="1471520"/>
            <a:ext cx="8286750" cy="3143250"/>
          </a:xfrm>
          <a:custGeom>
            <a:avLst/>
            <a:gdLst/>
            <a:ahLst/>
            <a:cxnLst/>
            <a:rect r="r" b="b" t="t" l="l"/>
            <a:pathLst>
              <a:path h="3143250" w="8286750">
                <a:moveTo>
                  <a:pt x="0" y="0"/>
                </a:moveTo>
                <a:lnTo>
                  <a:pt x="8286750" y="0"/>
                </a:lnTo>
                <a:lnTo>
                  <a:pt x="8286750" y="3143250"/>
                </a:lnTo>
                <a:lnTo>
                  <a:pt x="0" y="3143250"/>
                </a:lnTo>
                <a:lnTo>
                  <a:pt x="0" y="0"/>
                </a:lnTo>
                <a:close/>
              </a:path>
            </a:pathLst>
          </a:custGeom>
          <a:blipFill>
            <a:blip r:embed="rId2"/>
            <a:stretch>
              <a:fillRect l="-2617" t="0" r="-2789" b="-15912"/>
            </a:stretch>
          </a:blipFill>
        </p:spPr>
      </p:sp>
      <p:sp>
        <p:nvSpPr>
          <p:cNvPr name="TextBox 6" id="6"/>
          <p:cNvSpPr txBox="true"/>
          <p:nvPr/>
        </p:nvSpPr>
        <p:spPr>
          <a:xfrm rot="0">
            <a:off x="2332175" y="4609894"/>
            <a:ext cx="13189855" cy="2524745"/>
          </a:xfrm>
          <a:prstGeom prst="rect">
            <a:avLst/>
          </a:prstGeom>
        </p:spPr>
        <p:txBody>
          <a:bodyPr anchor="t" rtlCol="false" tIns="0" lIns="0" bIns="0" rIns="0">
            <a:spAutoFit/>
          </a:bodyPr>
          <a:lstStyle/>
          <a:p>
            <a:pPr algn="ctr">
              <a:lnSpc>
                <a:spcPts val="9940"/>
              </a:lnSpc>
              <a:spcBef>
                <a:spcPct val="0"/>
              </a:spcBef>
            </a:pPr>
            <a:r>
              <a:rPr lang="en-US" sz="7100">
                <a:solidFill>
                  <a:srgbClr val="FA7B00">
                    <a:alpha val="9804"/>
                  </a:srgbClr>
                </a:solidFill>
                <a:latin typeface="Angella White"/>
              </a:rPr>
              <a:t> ORPHAN OR POOR FAMILY CHILDREN SYSTEM</a:t>
            </a:r>
          </a:p>
        </p:txBody>
      </p:sp>
      <p:sp>
        <p:nvSpPr>
          <p:cNvPr name="TextBox 7" id="7"/>
          <p:cNvSpPr txBox="true"/>
          <p:nvPr/>
        </p:nvSpPr>
        <p:spPr>
          <a:xfrm rot="0">
            <a:off x="4948486" y="5076271"/>
            <a:ext cx="7727532" cy="1687240"/>
          </a:xfrm>
          <a:prstGeom prst="rect">
            <a:avLst/>
          </a:prstGeom>
        </p:spPr>
        <p:txBody>
          <a:bodyPr anchor="t" rtlCol="false" tIns="0" lIns="0" bIns="0" rIns="0">
            <a:spAutoFit/>
          </a:bodyPr>
          <a:lstStyle/>
          <a:p>
            <a:pPr algn="ctr">
              <a:lnSpc>
                <a:spcPts val="6752"/>
              </a:lnSpc>
            </a:pPr>
            <a:r>
              <a:rPr lang="en-US" sz="4823">
                <a:solidFill>
                  <a:srgbClr val="7D6854"/>
                </a:solidFill>
                <a:latin typeface="The Seasons"/>
              </a:rPr>
              <a:t> </a:t>
            </a:r>
            <a:r>
              <a:rPr lang="en-US" sz="4823">
                <a:solidFill>
                  <a:srgbClr val="7D6854"/>
                </a:solidFill>
                <a:latin typeface="The Seasons"/>
              </a:rPr>
              <a:t>ORPHAN OR POOR FAMILY CHILDREN SYSTEM</a:t>
            </a:r>
          </a:p>
        </p:txBody>
      </p:sp>
      <p:sp>
        <p:nvSpPr>
          <p:cNvPr name="TextBox 8" id="8"/>
          <p:cNvSpPr txBox="true"/>
          <p:nvPr/>
        </p:nvSpPr>
        <p:spPr>
          <a:xfrm rot="0">
            <a:off x="-1065670" y="7725745"/>
            <a:ext cx="7749604" cy="339576"/>
          </a:xfrm>
          <a:prstGeom prst="rect">
            <a:avLst/>
          </a:prstGeom>
        </p:spPr>
        <p:txBody>
          <a:bodyPr anchor="t" rtlCol="false" tIns="0" lIns="0" bIns="0" rIns="0">
            <a:spAutoFit/>
          </a:bodyPr>
          <a:lstStyle/>
          <a:p>
            <a:pPr algn="ctr">
              <a:lnSpc>
                <a:spcPts val="2800"/>
              </a:lnSpc>
            </a:pPr>
            <a:r>
              <a:rPr lang="en-US" sz="2000" spc="600">
                <a:solidFill>
                  <a:srgbClr val="000000"/>
                </a:solidFill>
                <a:latin typeface="Red Hat Display Bold"/>
              </a:rPr>
              <a:t>COURSE: CMSE322</a:t>
            </a:r>
          </a:p>
        </p:txBody>
      </p:sp>
      <p:sp>
        <p:nvSpPr>
          <p:cNvPr name="TextBox 9" id="9"/>
          <p:cNvSpPr txBox="true"/>
          <p:nvPr/>
        </p:nvSpPr>
        <p:spPr>
          <a:xfrm rot="0">
            <a:off x="-1832454" y="8142643"/>
            <a:ext cx="7749604" cy="339576"/>
          </a:xfrm>
          <a:prstGeom prst="rect">
            <a:avLst/>
          </a:prstGeom>
        </p:spPr>
        <p:txBody>
          <a:bodyPr anchor="t" rtlCol="false" tIns="0" lIns="0" bIns="0" rIns="0">
            <a:spAutoFit/>
          </a:bodyPr>
          <a:lstStyle/>
          <a:p>
            <a:pPr algn="ctr">
              <a:lnSpc>
                <a:spcPts val="2800"/>
              </a:lnSpc>
            </a:pPr>
            <a:r>
              <a:rPr lang="en-US" sz="2000" spc="600">
                <a:solidFill>
                  <a:srgbClr val="000000"/>
                </a:solidFill>
                <a:latin typeface="Red Hat Display Bold"/>
              </a:rPr>
              <a:t>GROUP 15 </a:t>
            </a:r>
          </a:p>
        </p:txBody>
      </p:sp>
      <p:sp>
        <p:nvSpPr>
          <p:cNvPr name="TextBox 10" id="10"/>
          <p:cNvSpPr txBox="true"/>
          <p:nvPr/>
        </p:nvSpPr>
        <p:spPr>
          <a:xfrm rot="0">
            <a:off x="492543" y="8625094"/>
            <a:ext cx="8911886" cy="339725"/>
          </a:xfrm>
          <a:prstGeom prst="rect">
            <a:avLst/>
          </a:prstGeom>
        </p:spPr>
        <p:txBody>
          <a:bodyPr anchor="t" rtlCol="false" tIns="0" lIns="0" bIns="0" rIns="0">
            <a:spAutoFit/>
          </a:bodyPr>
          <a:lstStyle/>
          <a:p>
            <a:pPr algn="ctr">
              <a:lnSpc>
                <a:spcPts val="2800"/>
              </a:lnSpc>
            </a:pPr>
            <a:r>
              <a:rPr lang="en-US" sz="2000" spc="600">
                <a:solidFill>
                  <a:srgbClr val="000000"/>
                </a:solidFill>
                <a:latin typeface="Red Hat Display Bold"/>
              </a:rPr>
              <a:t>INTRODUCTOR: DUYGU ÇELIK ERTUĞRUL</a:t>
            </a:r>
          </a:p>
        </p:txBody>
      </p:sp>
      <p:sp>
        <p:nvSpPr>
          <p:cNvPr name="TextBox 11" id="11"/>
          <p:cNvSpPr txBox="true"/>
          <p:nvPr/>
        </p:nvSpPr>
        <p:spPr>
          <a:xfrm rot="0">
            <a:off x="581141" y="9177336"/>
            <a:ext cx="7749604" cy="339576"/>
          </a:xfrm>
          <a:prstGeom prst="rect">
            <a:avLst/>
          </a:prstGeom>
        </p:spPr>
        <p:txBody>
          <a:bodyPr anchor="t" rtlCol="false" tIns="0" lIns="0" bIns="0" rIns="0">
            <a:spAutoFit/>
          </a:bodyPr>
          <a:lstStyle/>
          <a:p>
            <a:pPr algn="ctr">
              <a:lnSpc>
                <a:spcPts val="2800"/>
              </a:lnSpc>
            </a:pPr>
            <a:r>
              <a:rPr lang="en-US" sz="2000" spc="600">
                <a:solidFill>
                  <a:srgbClr val="000000"/>
                </a:solidFill>
                <a:latin typeface="Red Hat Display Bold"/>
              </a:rPr>
              <a:t>LAB COORDINATOR: NADA KOLLAH </a:t>
            </a:r>
          </a:p>
        </p:txBody>
      </p:sp>
      <p:sp>
        <p:nvSpPr>
          <p:cNvPr name="TextBox 12" id="12"/>
          <p:cNvSpPr txBox="true"/>
          <p:nvPr/>
        </p:nvSpPr>
        <p:spPr>
          <a:xfrm rot="0">
            <a:off x="-710782" y="9717294"/>
            <a:ext cx="7749604" cy="339576"/>
          </a:xfrm>
          <a:prstGeom prst="rect">
            <a:avLst/>
          </a:prstGeom>
        </p:spPr>
        <p:txBody>
          <a:bodyPr anchor="t" rtlCol="false" tIns="0" lIns="0" bIns="0" rIns="0">
            <a:spAutoFit/>
          </a:bodyPr>
          <a:lstStyle/>
          <a:p>
            <a:pPr algn="ctr">
              <a:lnSpc>
                <a:spcPts val="2800"/>
              </a:lnSpc>
            </a:pPr>
            <a:r>
              <a:rPr lang="en-US" sz="2000" spc="600">
                <a:solidFill>
                  <a:srgbClr val="000000"/>
                </a:solidFill>
                <a:latin typeface="Red Hat Display Bold"/>
              </a:rPr>
              <a:t>ZEYNEP PELIN ÇOLAK</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6E3DE"/>
        </a:solidFill>
      </p:bgPr>
    </p:bg>
    <p:spTree>
      <p:nvGrpSpPr>
        <p:cNvPr id="1" name=""/>
        <p:cNvGrpSpPr/>
        <p:nvPr/>
      </p:nvGrpSpPr>
      <p:grpSpPr>
        <a:xfrm>
          <a:off x="0" y="0"/>
          <a:ext cx="0" cy="0"/>
          <a:chOff x="0" y="0"/>
          <a:chExt cx="0" cy="0"/>
        </a:xfrm>
      </p:grpSpPr>
      <p:grpSp>
        <p:nvGrpSpPr>
          <p:cNvPr name="Group 2" id="2"/>
          <p:cNvGrpSpPr/>
          <p:nvPr/>
        </p:nvGrpSpPr>
        <p:grpSpPr>
          <a:xfrm rot="0">
            <a:off x="3126270" y="2675682"/>
            <a:ext cx="6017730" cy="2252069"/>
            <a:chOff x="0" y="0"/>
            <a:chExt cx="1584917" cy="593137"/>
          </a:xfrm>
        </p:grpSpPr>
        <p:sp>
          <p:nvSpPr>
            <p:cNvPr name="Freeform 3" id="3"/>
            <p:cNvSpPr/>
            <p:nvPr/>
          </p:nvSpPr>
          <p:spPr>
            <a:xfrm flipH="false" flipV="false" rot="0">
              <a:off x="0" y="0"/>
              <a:ext cx="1584917" cy="593137"/>
            </a:xfrm>
            <a:custGeom>
              <a:avLst/>
              <a:gdLst/>
              <a:ahLst/>
              <a:cxnLst/>
              <a:rect r="r" b="b" t="t" l="l"/>
              <a:pathLst>
                <a:path h="593137" w="1584917">
                  <a:moveTo>
                    <a:pt x="0" y="0"/>
                  </a:moveTo>
                  <a:lnTo>
                    <a:pt x="1584917" y="0"/>
                  </a:lnTo>
                  <a:lnTo>
                    <a:pt x="1584917" y="593137"/>
                  </a:lnTo>
                  <a:lnTo>
                    <a:pt x="0" y="593137"/>
                  </a:lnTo>
                  <a:close/>
                </a:path>
              </a:pathLst>
            </a:custGeom>
            <a:solidFill>
              <a:srgbClr val="FAF9F8"/>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2248273" y="4308959"/>
            <a:ext cx="6352463" cy="1041282"/>
          </a:xfrm>
          <a:prstGeom prst="rect">
            <a:avLst/>
          </a:prstGeom>
        </p:spPr>
        <p:txBody>
          <a:bodyPr anchor="t" rtlCol="false" tIns="0" lIns="0" bIns="0" rIns="0">
            <a:spAutoFit/>
          </a:bodyPr>
          <a:lstStyle/>
          <a:p>
            <a:pPr algn="ctr">
              <a:lnSpc>
                <a:spcPts val="8428"/>
              </a:lnSpc>
            </a:pPr>
            <a:r>
              <a:rPr lang="en-US" sz="6020">
                <a:solidFill>
                  <a:srgbClr val="000000"/>
                </a:solidFill>
                <a:latin typeface="The Seasons"/>
              </a:rPr>
              <a:t>Outline</a:t>
            </a:r>
          </a:p>
        </p:txBody>
      </p:sp>
      <p:sp>
        <p:nvSpPr>
          <p:cNvPr name="TextBox 6" id="6"/>
          <p:cNvSpPr txBox="true"/>
          <p:nvPr/>
        </p:nvSpPr>
        <p:spPr>
          <a:xfrm rot="0">
            <a:off x="11733912" y="1766803"/>
            <a:ext cx="5525388" cy="1037716"/>
          </a:xfrm>
          <a:prstGeom prst="rect">
            <a:avLst/>
          </a:prstGeom>
        </p:spPr>
        <p:txBody>
          <a:bodyPr anchor="t" rtlCol="false" tIns="0" lIns="0" bIns="0" rIns="0">
            <a:spAutoFit/>
          </a:bodyPr>
          <a:lstStyle/>
          <a:p>
            <a:pPr>
              <a:lnSpc>
                <a:spcPts val="8428"/>
              </a:lnSpc>
            </a:pPr>
            <a:r>
              <a:rPr lang="en-US" sz="6020">
                <a:solidFill>
                  <a:srgbClr val="000000"/>
                </a:solidFill>
                <a:latin typeface="The Seasons"/>
              </a:rPr>
              <a:t>Introduction</a:t>
            </a:r>
          </a:p>
        </p:txBody>
      </p:sp>
      <p:sp>
        <p:nvSpPr>
          <p:cNvPr name="TextBox 7" id="7"/>
          <p:cNvSpPr txBox="true"/>
          <p:nvPr/>
        </p:nvSpPr>
        <p:spPr>
          <a:xfrm rot="0">
            <a:off x="11733912" y="4070834"/>
            <a:ext cx="4756020" cy="1037716"/>
          </a:xfrm>
          <a:prstGeom prst="rect">
            <a:avLst/>
          </a:prstGeom>
        </p:spPr>
        <p:txBody>
          <a:bodyPr anchor="t" rtlCol="false" tIns="0" lIns="0" bIns="0" rIns="0">
            <a:spAutoFit/>
          </a:bodyPr>
          <a:lstStyle/>
          <a:p>
            <a:pPr>
              <a:lnSpc>
                <a:spcPts val="8428"/>
              </a:lnSpc>
            </a:pPr>
            <a:r>
              <a:rPr lang="en-US" sz="6020">
                <a:solidFill>
                  <a:srgbClr val="000000"/>
                </a:solidFill>
                <a:latin typeface="The Seasons"/>
              </a:rPr>
              <a:t>Use Tools</a:t>
            </a:r>
          </a:p>
        </p:txBody>
      </p:sp>
      <p:sp>
        <p:nvSpPr>
          <p:cNvPr name="TextBox 8" id="8"/>
          <p:cNvSpPr txBox="true"/>
          <p:nvPr/>
        </p:nvSpPr>
        <p:spPr>
          <a:xfrm rot="0">
            <a:off x="11733912" y="6375562"/>
            <a:ext cx="4756020" cy="1037716"/>
          </a:xfrm>
          <a:prstGeom prst="rect">
            <a:avLst/>
          </a:prstGeom>
        </p:spPr>
        <p:txBody>
          <a:bodyPr anchor="t" rtlCol="false" tIns="0" lIns="0" bIns="0" rIns="0">
            <a:spAutoFit/>
          </a:bodyPr>
          <a:lstStyle/>
          <a:p>
            <a:pPr>
              <a:lnSpc>
                <a:spcPts val="8428"/>
              </a:lnSpc>
            </a:pPr>
            <a:r>
              <a:rPr lang="en-US" sz="6020">
                <a:solidFill>
                  <a:srgbClr val="000000"/>
                </a:solidFill>
                <a:latin typeface="The Seasons"/>
              </a:rPr>
              <a:t>Design</a:t>
            </a:r>
          </a:p>
        </p:txBody>
      </p:sp>
      <p:sp>
        <p:nvSpPr>
          <p:cNvPr name="TextBox 9" id="9"/>
          <p:cNvSpPr txBox="true"/>
          <p:nvPr/>
        </p:nvSpPr>
        <p:spPr>
          <a:xfrm rot="0">
            <a:off x="11733912" y="2918819"/>
            <a:ext cx="5525388" cy="1037716"/>
          </a:xfrm>
          <a:prstGeom prst="rect">
            <a:avLst/>
          </a:prstGeom>
        </p:spPr>
        <p:txBody>
          <a:bodyPr anchor="t" rtlCol="false" tIns="0" lIns="0" bIns="0" rIns="0">
            <a:spAutoFit/>
          </a:bodyPr>
          <a:lstStyle/>
          <a:p>
            <a:pPr>
              <a:lnSpc>
                <a:spcPts val="8428"/>
              </a:lnSpc>
            </a:pPr>
            <a:r>
              <a:rPr lang="en-US" sz="6020">
                <a:solidFill>
                  <a:srgbClr val="000000"/>
                </a:solidFill>
                <a:latin typeface="The Seasons"/>
              </a:rPr>
              <a:t>DB Diagram</a:t>
            </a:r>
          </a:p>
        </p:txBody>
      </p:sp>
      <p:sp>
        <p:nvSpPr>
          <p:cNvPr name="TextBox 10" id="10"/>
          <p:cNvSpPr txBox="true"/>
          <p:nvPr/>
        </p:nvSpPr>
        <p:spPr>
          <a:xfrm rot="0">
            <a:off x="11733912" y="5222850"/>
            <a:ext cx="4756020" cy="1037716"/>
          </a:xfrm>
          <a:prstGeom prst="rect">
            <a:avLst/>
          </a:prstGeom>
        </p:spPr>
        <p:txBody>
          <a:bodyPr anchor="t" rtlCol="false" tIns="0" lIns="0" bIns="0" rIns="0">
            <a:spAutoFit/>
          </a:bodyPr>
          <a:lstStyle/>
          <a:p>
            <a:pPr>
              <a:lnSpc>
                <a:spcPts val="8428"/>
              </a:lnSpc>
            </a:pPr>
            <a:r>
              <a:rPr lang="en-US" sz="6020">
                <a:solidFill>
                  <a:srgbClr val="000000"/>
                </a:solidFill>
                <a:latin typeface="The Seasons"/>
              </a:rPr>
              <a:t>Testing</a:t>
            </a:r>
          </a:p>
        </p:txBody>
      </p:sp>
      <p:sp>
        <p:nvSpPr>
          <p:cNvPr name="TextBox 11" id="11"/>
          <p:cNvSpPr txBox="true"/>
          <p:nvPr/>
        </p:nvSpPr>
        <p:spPr>
          <a:xfrm rot="0">
            <a:off x="459490" y="2334105"/>
            <a:ext cx="10577487" cy="4400257"/>
          </a:xfrm>
          <a:prstGeom prst="rect">
            <a:avLst/>
          </a:prstGeom>
        </p:spPr>
        <p:txBody>
          <a:bodyPr anchor="t" rtlCol="false" tIns="0" lIns="0" bIns="0" rIns="0">
            <a:spAutoFit/>
          </a:bodyPr>
          <a:lstStyle/>
          <a:p>
            <a:pPr algn="ctr">
              <a:lnSpc>
                <a:spcPts val="34666"/>
              </a:lnSpc>
              <a:spcBef>
                <a:spcPct val="0"/>
              </a:spcBef>
            </a:pPr>
            <a:r>
              <a:rPr lang="en-US" sz="24761">
                <a:solidFill>
                  <a:srgbClr val="7D6854">
                    <a:alpha val="9804"/>
                  </a:srgbClr>
                </a:solidFill>
                <a:latin typeface="Angella White"/>
              </a:rPr>
              <a:t>Outline</a:t>
            </a:r>
          </a:p>
        </p:txBody>
      </p:sp>
      <p:sp>
        <p:nvSpPr>
          <p:cNvPr name="TextBox 12" id="12"/>
          <p:cNvSpPr txBox="true"/>
          <p:nvPr/>
        </p:nvSpPr>
        <p:spPr>
          <a:xfrm rot="0">
            <a:off x="11733912" y="7524427"/>
            <a:ext cx="4756020" cy="1037716"/>
          </a:xfrm>
          <a:prstGeom prst="rect">
            <a:avLst/>
          </a:prstGeom>
        </p:spPr>
        <p:txBody>
          <a:bodyPr anchor="t" rtlCol="false" tIns="0" lIns="0" bIns="0" rIns="0">
            <a:spAutoFit/>
          </a:bodyPr>
          <a:lstStyle/>
          <a:p>
            <a:pPr>
              <a:lnSpc>
                <a:spcPts val="8428"/>
              </a:lnSpc>
            </a:pPr>
            <a:r>
              <a:rPr lang="en-US" sz="6020">
                <a:solidFill>
                  <a:srgbClr val="000000"/>
                </a:solidFill>
                <a:latin typeface="The Seasons"/>
              </a:rPr>
              <a:t>Conclusion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6E3DE"/>
        </a:solidFill>
      </p:bgPr>
    </p:bg>
    <p:spTree>
      <p:nvGrpSpPr>
        <p:cNvPr id="1" name=""/>
        <p:cNvGrpSpPr/>
        <p:nvPr/>
      </p:nvGrpSpPr>
      <p:grpSpPr>
        <a:xfrm>
          <a:off x="0" y="0"/>
          <a:ext cx="0" cy="0"/>
          <a:chOff x="0" y="0"/>
          <a:chExt cx="0" cy="0"/>
        </a:xfrm>
      </p:grpSpPr>
      <p:sp>
        <p:nvSpPr>
          <p:cNvPr name="TextBox 2" id="2"/>
          <p:cNvSpPr txBox="true"/>
          <p:nvPr/>
        </p:nvSpPr>
        <p:spPr>
          <a:xfrm rot="0">
            <a:off x="1028700" y="-125112"/>
            <a:ext cx="9187351" cy="4400257"/>
          </a:xfrm>
          <a:prstGeom prst="rect">
            <a:avLst/>
          </a:prstGeom>
        </p:spPr>
        <p:txBody>
          <a:bodyPr anchor="t" rtlCol="false" tIns="0" lIns="0" bIns="0" rIns="0">
            <a:spAutoFit/>
          </a:bodyPr>
          <a:lstStyle/>
          <a:p>
            <a:pPr algn="ctr">
              <a:lnSpc>
                <a:spcPts val="34666"/>
              </a:lnSpc>
              <a:spcBef>
                <a:spcPct val="0"/>
              </a:spcBef>
            </a:pPr>
            <a:r>
              <a:rPr lang="en-US" sz="24761">
                <a:solidFill>
                  <a:srgbClr val="7D6854">
                    <a:alpha val="9804"/>
                  </a:srgbClr>
                </a:solidFill>
                <a:latin typeface="Angella White"/>
              </a:rPr>
              <a:t>Introduction</a:t>
            </a:r>
          </a:p>
        </p:txBody>
      </p:sp>
      <p:sp>
        <p:nvSpPr>
          <p:cNvPr name="TextBox 3" id="3"/>
          <p:cNvSpPr txBox="true"/>
          <p:nvPr/>
        </p:nvSpPr>
        <p:spPr>
          <a:xfrm rot="0">
            <a:off x="2446144" y="1990298"/>
            <a:ext cx="6352463" cy="1041282"/>
          </a:xfrm>
          <a:prstGeom prst="rect">
            <a:avLst/>
          </a:prstGeom>
        </p:spPr>
        <p:txBody>
          <a:bodyPr anchor="t" rtlCol="false" tIns="0" lIns="0" bIns="0" rIns="0">
            <a:spAutoFit/>
          </a:bodyPr>
          <a:lstStyle/>
          <a:p>
            <a:pPr algn="ctr">
              <a:lnSpc>
                <a:spcPts val="8428"/>
              </a:lnSpc>
            </a:pPr>
            <a:r>
              <a:rPr lang="en-US" sz="6020">
                <a:solidFill>
                  <a:srgbClr val="000000"/>
                </a:solidFill>
                <a:latin typeface="The Seasons"/>
              </a:rPr>
              <a:t>Introduction</a:t>
            </a:r>
          </a:p>
        </p:txBody>
      </p:sp>
      <p:sp>
        <p:nvSpPr>
          <p:cNvPr name="TextBox 4" id="4"/>
          <p:cNvSpPr txBox="true"/>
          <p:nvPr/>
        </p:nvSpPr>
        <p:spPr>
          <a:xfrm rot="0">
            <a:off x="5622376" y="5095875"/>
            <a:ext cx="10278519" cy="3270358"/>
          </a:xfrm>
          <a:prstGeom prst="rect">
            <a:avLst/>
          </a:prstGeom>
        </p:spPr>
        <p:txBody>
          <a:bodyPr anchor="t" rtlCol="false" tIns="0" lIns="0" bIns="0" rIns="0">
            <a:spAutoFit/>
          </a:bodyPr>
          <a:lstStyle/>
          <a:p>
            <a:pPr>
              <a:lnSpc>
                <a:spcPts val="3735"/>
              </a:lnSpc>
            </a:pPr>
            <a:r>
              <a:rPr lang="en-US" sz="2668" spc="266">
                <a:solidFill>
                  <a:srgbClr val="000000"/>
                </a:solidFill>
                <a:latin typeface="Red Hat Display"/>
              </a:rPr>
              <a:t>The aim of this project is to create a web application that leverages modern technology to support children in need and provide them with a better future. The application aims to bring together potential foster families or sponsors who support orphan or poor children and provide them with a healthy family environment.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6E3DE"/>
        </a:solidFill>
      </p:bgPr>
    </p:bg>
    <p:spTree>
      <p:nvGrpSpPr>
        <p:cNvPr id="1" name=""/>
        <p:cNvGrpSpPr/>
        <p:nvPr/>
      </p:nvGrpSpPr>
      <p:grpSpPr>
        <a:xfrm>
          <a:off x="0" y="0"/>
          <a:ext cx="0" cy="0"/>
          <a:chOff x="0" y="0"/>
          <a:chExt cx="0" cy="0"/>
        </a:xfrm>
      </p:grpSpPr>
      <p:sp>
        <p:nvSpPr>
          <p:cNvPr name="Freeform 2" id="2"/>
          <p:cNvSpPr/>
          <p:nvPr/>
        </p:nvSpPr>
        <p:spPr>
          <a:xfrm flipH="false" flipV="false" rot="0">
            <a:off x="4939039" y="1761830"/>
            <a:ext cx="12414726" cy="8525170"/>
          </a:xfrm>
          <a:custGeom>
            <a:avLst/>
            <a:gdLst/>
            <a:ahLst/>
            <a:cxnLst/>
            <a:rect r="r" b="b" t="t" l="l"/>
            <a:pathLst>
              <a:path h="8525170" w="12414726">
                <a:moveTo>
                  <a:pt x="0" y="0"/>
                </a:moveTo>
                <a:lnTo>
                  <a:pt x="12414726" y="0"/>
                </a:lnTo>
                <a:lnTo>
                  <a:pt x="12414726" y="8525170"/>
                </a:lnTo>
                <a:lnTo>
                  <a:pt x="0" y="8525170"/>
                </a:lnTo>
                <a:lnTo>
                  <a:pt x="0" y="0"/>
                </a:lnTo>
                <a:close/>
              </a:path>
            </a:pathLst>
          </a:custGeom>
          <a:blipFill>
            <a:blip r:embed="rId2"/>
            <a:stretch>
              <a:fillRect l="0" t="0" r="0" b="0"/>
            </a:stretch>
          </a:blipFill>
        </p:spPr>
      </p:sp>
      <p:sp>
        <p:nvSpPr>
          <p:cNvPr name="TextBox 3" id="3"/>
          <p:cNvSpPr txBox="true"/>
          <p:nvPr/>
        </p:nvSpPr>
        <p:spPr>
          <a:xfrm rot="0">
            <a:off x="-946084" y="-132623"/>
            <a:ext cx="9531698" cy="2195284"/>
          </a:xfrm>
          <a:prstGeom prst="rect">
            <a:avLst/>
          </a:prstGeom>
        </p:spPr>
        <p:txBody>
          <a:bodyPr anchor="t" rtlCol="false" tIns="0" lIns="0" bIns="0" rIns="0">
            <a:spAutoFit/>
          </a:bodyPr>
          <a:lstStyle/>
          <a:p>
            <a:pPr algn="ctr">
              <a:lnSpc>
                <a:spcPts val="17288"/>
              </a:lnSpc>
              <a:spcBef>
                <a:spcPct val="0"/>
              </a:spcBef>
            </a:pPr>
            <a:r>
              <a:rPr lang="en-US" sz="12348">
                <a:solidFill>
                  <a:srgbClr val="7D6854">
                    <a:alpha val="9804"/>
                  </a:srgbClr>
                </a:solidFill>
                <a:latin typeface="Angella White"/>
              </a:rPr>
              <a:t>ER Diagram </a:t>
            </a:r>
          </a:p>
        </p:txBody>
      </p:sp>
      <p:sp>
        <p:nvSpPr>
          <p:cNvPr name="TextBox 4" id="4"/>
          <p:cNvSpPr txBox="true"/>
          <p:nvPr/>
        </p:nvSpPr>
        <p:spPr>
          <a:xfrm rot="0">
            <a:off x="643534" y="539628"/>
            <a:ext cx="6352463" cy="1041282"/>
          </a:xfrm>
          <a:prstGeom prst="rect">
            <a:avLst/>
          </a:prstGeom>
        </p:spPr>
        <p:txBody>
          <a:bodyPr anchor="t" rtlCol="false" tIns="0" lIns="0" bIns="0" rIns="0">
            <a:spAutoFit/>
          </a:bodyPr>
          <a:lstStyle/>
          <a:p>
            <a:pPr algn="ctr">
              <a:lnSpc>
                <a:spcPts val="8428"/>
              </a:lnSpc>
            </a:pPr>
            <a:r>
              <a:rPr lang="en-US" sz="6020">
                <a:solidFill>
                  <a:srgbClr val="000000"/>
                </a:solidFill>
                <a:latin typeface="The Seasons"/>
              </a:rPr>
              <a:t>Er Diagram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6E3DE"/>
        </a:solidFill>
      </p:bgPr>
    </p:bg>
    <p:spTree>
      <p:nvGrpSpPr>
        <p:cNvPr id="1" name=""/>
        <p:cNvGrpSpPr/>
        <p:nvPr/>
      </p:nvGrpSpPr>
      <p:grpSpPr>
        <a:xfrm>
          <a:off x="0" y="0"/>
          <a:ext cx="0" cy="0"/>
          <a:chOff x="0" y="0"/>
          <a:chExt cx="0" cy="0"/>
        </a:xfrm>
      </p:grpSpPr>
      <p:sp>
        <p:nvSpPr>
          <p:cNvPr name="Freeform 2" id="2"/>
          <p:cNvSpPr/>
          <p:nvPr/>
        </p:nvSpPr>
        <p:spPr>
          <a:xfrm flipH="false" flipV="false" rot="0">
            <a:off x="5519934" y="350512"/>
            <a:ext cx="12768066" cy="5765013"/>
          </a:xfrm>
          <a:custGeom>
            <a:avLst/>
            <a:gdLst/>
            <a:ahLst/>
            <a:cxnLst/>
            <a:rect r="r" b="b" t="t" l="l"/>
            <a:pathLst>
              <a:path h="5765013" w="12768066">
                <a:moveTo>
                  <a:pt x="0" y="0"/>
                </a:moveTo>
                <a:lnTo>
                  <a:pt x="12768066" y="0"/>
                </a:lnTo>
                <a:lnTo>
                  <a:pt x="12768066" y="5765013"/>
                </a:lnTo>
                <a:lnTo>
                  <a:pt x="0" y="5765013"/>
                </a:lnTo>
                <a:lnTo>
                  <a:pt x="0" y="0"/>
                </a:lnTo>
                <a:close/>
              </a:path>
            </a:pathLst>
          </a:custGeom>
          <a:blipFill>
            <a:blip r:embed="rId2"/>
            <a:stretch>
              <a:fillRect l="0" t="0" r="0" b="0"/>
            </a:stretch>
          </a:blipFill>
        </p:spPr>
      </p:sp>
      <p:sp>
        <p:nvSpPr>
          <p:cNvPr name="TextBox 3" id="3"/>
          <p:cNvSpPr txBox="true"/>
          <p:nvPr/>
        </p:nvSpPr>
        <p:spPr>
          <a:xfrm rot="0">
            <a:off x="-342871" y="140962"/>
            <a:ext cx="6443377" cy="1481043"/>
          </a:xfrm>
          <a:prstGeom prst="rect">
            <a:avLst/>
          </a:prstGeom>
        </p:spPr>
        <p:txBody>
          <a:bodyPr anchor="t" rtlCol="false" tIns="0" lIns="0" bIns="0" rIns="0">
            <a:spAutoFit/>
          </a:bodyPr>
          <a:lstStyle/>
          <a:p>
            <a:pPr algn="ctr">
              <a:lnSpc>
                <a:spcPts val="11686"/>
              </a:lnSpc>
              <a:spcBef>
                <a:spcPct val="0"/>
              </a:spcBef>
            </a:pPr>
            <a:r>
              <a:rPr lang="en-US" sz="8347">
                <a:solidFill>
                  <a:srgbClr val="7D6854">
                    <a:alpha val="9804"/>
                  </a:srgbClr>
                </a:solidFill>
                <a:latin typeface="Angella White"/>
              </a:rPr>
              <a:t>DataBase Table</a:t>
            </a:r>
          </a:p>
        </p:txBody>
      </p:sp>
      <p:sp>
        <p:nvSpPr>
          <p:cNvPr name="TextBox 4" id="4"/>
          <p:cNvSpPr txBox="true"/>
          <p:nvPr/>
        </p:nvSpPr>
        <p:spPr>
          <a:xfrm rot="0">
            <a:off x="0" y="495528"/>
            <a:ext cx="5456972" cy="740861"/>
          </a:xfrm>
          <a:prstGeom prst="rect">
            <a:avLst/>
          </a:prstGeom>
        </p:spPr>
        <p:txBody>
          <a:bodyPr anchor="t" rtlCol="false" tIns="0" lIns="0" bIns="0" rIns="0">
            <a:spAutoFit/>
          </a:bodyPr>
          <a:lstStyle/>
          <a:p>
            <a:pPr algn="ctr">
              <a:lnSpc>
                <a:spcPts val="5931"/>
              </a:lnSpc>
            </a:pPr>
            <a:r>
              <a:rPr lang="en-US" sz="4236">
                <a:solidFill>
                  <a:srgbClr val="000000"/>
                </a:solidFill>
                <a:latin typeface="The Seasons"/>
              </a:rPr>
              <a:t>Data Base Table</a:t>
            </a:r>
          </a:p>
        </p:txBody>
      </p:sp>
      <p:sp>
        <p:nvSpPr>
          <p:cNvPr name="TextBox 5" id="5"/>
          <p:cNvSpPr txBox="true"/>
          <p:nvPr/>
        </p:nvSpPr>
        <p:spPr>
          <a:xfrm rot="0">
            <a:off x="0" y="4451135"/>
            <a:ext cx="10424794" cy="6277697"/>
          </a:xfrm>
          <a:prstGeom prst="rect">
            <a:avLst/>
          </a:prstGeom>
        </p:spPr>
        <p:txBody>
          <a:bodyPr anchor="t" rtlCol="false" tIns="0" lIns="0" bIns="0" rIns="0">
            <a:spAutoFit/>
          </a:bodyPr>
          <a:lstStyle/>
          <a:p>
            <a:pPr>
              <a:lnSpc>
                <a:spcPts val="2618"/>
              </a:lnSpc>
            </a:pPr>
            <a:r>
              <a:rPr lang="en-US" sz="1870" spc="187">
                <a:solidFill>
                  <a:srgbClr val="000000"/>
                </a:solidFill>
                <a:latin typeface="Red Hat Display"/>
              </a:rPr>
              <a:t>CREATE TABLE Children (</a:t>
            </a:r>
            <a:r>
              <a:rPr lang="en-US" sz="1870" spc="187">
                <a:solidFill>
                  <a:srgbClr val="000000"/>
                </a:solidFill>
                <a:latin typeface="Red Hat Display"/>
              </a:rPr>
              <a:t> child_id INT PRIMARY KEY, child_name VARCHAR (50),child_surname varchar(50), age int NOT NULL,contact varchar(100),address varchar(100),health_situation text ,school_situation text,);</a:t>
            </a:r>
          </a:p>
          <a:p>
            <a:pPr>
              <a:lnSpc>
                <a:spcPts val="2618"/>
              </a:lnSpc>
            </a:pPr>
          </a:p>
          <a:p>
            <a:pPr>
              <a:lnSpc>
                <a:spcPts val="2618"/>
              </a:lnSpc>
            </a:pPr>
            <a:r>
              <a:rPr lang="en-US" sz="1870" spc="187">
                <a:solidFill>
                  <a:srgbClr val="000000"/>
                </a:solidFill>
                <a:latin typeface="Red Hat Display"/>
              </a:rPr>
              <a:t>CREATE TABLE Families( family_id INT PRIMARY KEY,family_name VARCHAR (50),address varchar(100),phone_number int,e_mail varchar(100),);</a:t>
            </a:r>
          </a:p>
          <a:p>
            <a:pPr>
              <a:lnSpc>
                <a:spcPts val="2618"/>
              </a:lnSpc>
            </a:pPr>
          </a:p>
          <a:p>
            <a:pPr>
              <a:lnSpc>
                <a:spcPts val="2618"/>
              </a:lnSpc>
            </a:pPr>
            <a:r>
              <a:rPr lang="en-US" sz="1870" spc="187">
                <a:solidFill>
                  <a:srgbClr val="000000"/>
                </a:solidFill>
                <a:latin typeface="Red Hat Display"/>
              </a:rPr>
              <a:t>CREATE TABLE Volunteers( volunteers_id INT PRIMARY KEY, child_id int Foreign Key, family_id int Foreign key, vol_name varchar(50),vol_surname varchar(50),phone_number int,e_mail varchar(100),address varchar(100),message varchar(100),);</a:t>
            </a:r>
          </a:p>
          <a:p>
            <a:pPr>
              <a:lnSpc>
                <a:spcPts val="2618"/>
              </a:lnSpc>
            </a:pPr>
          </a:p>
          <a:p>
            <a:pPr>
              <a:lnSpc>
                <a:spcPts val="2618"/>
              </a:lnSpc>
            </a:pPr>
            <a:r>
              <a:rPr lang="en-US" sz="1870" spc="187">
                <a:solidFill>
                  <a:srgbClr val="000000"/>
                </a:solidFill>
                <a:latin typeface="Red Hat Display"/>
              </a:rPr>
              <a:t>CREATE TABLE Donations (donate_id int PRIMARY KEY , child_id int Foreign Key, family_id int Foreign key, name varchar(50), surname varchar(50),phone_number int,e_mail varchar(100), donate_amount decimal(10,2), situation varchar(50),message varchar(100),);</a:t>
            </a:r>
          </a:p>
          <a:p>
            <a:pPr>
              <a:lnSpc>
                <a:spcPts val="2618"/>
              </a:lnSpc>
            </a:pPr>
          </a:p>
          <a:p>
            <a:pPr>
              <a:lnSpc>
                <a:spcPts val="2618"/>
              </a:lnSpc>
            </a:pPr>
          </a:p>
          <a:p>
            <a:pPr>
              <a:lnSpc>
                <a:spcPts val="2618"/>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6E3DE"/>
        </a:solidFill>
      </p:bgPr>
    </p:bg>
    <p:spTree>
      <p:nvGrpSpPr>
        <p:cNvPr id="1" name=""/>
        <p:cNvGrpSpPr/>
        <p:nvPr/>
      </p:nvGrpSpPr>
      <p:grpSpPr>
        <a:xfrm>
          <a:off x="0" y="0"/>
          <a:ext cx="0" cy="0"/>
          <a:chOff x="0" y="0"/>
          <a:chExt cx="0" cy="0"/>
        </a:xfrm>
      </p:grpSpPr>
      <p:sp>
        <p:nvSpPr>
          <p:cNvPr name="TextBox 2" id="2"/>
          <p:cNvSpPr txBox="true"/>
          <p:nvPr/>
        </p:nvSpPr>
        <p:spPr>
          <a:xfrm rot="0">
            <a:off x="2446144" y="1053367"/>
            <a:ext cx="5989868" cy="2878071"/>
          </a:xfrm>
          <a:prstGeom prst="rect">
            <a:avLst/>
          </a:prstGeom>
        </p:spPr>
        <p:txBody>
          <a:bodyPr anchor="t" rtlCol="false" tIns="0" lIns="0" bIns="0" rIns="0">
            <a:spAutoFit/>
          </a:bodyPr>
          <a:lstStyle/>
          <a:p>
            <a:pPr algn="ctr">
              <a:lnSpc>
                <a:spcPts val="22601"/>
              </a:lnSpc>
              <a:spcBef>
                <a:spcPct val="0"/>
              </a:spcBef>
            </a:pPr>
            <a:r>
              <a:rPr lang="en-US" sz="16143">
                <a:solidFill>
                  <a:srgbClr val="7D6854">
                    <a:alpha val="9804"/>
                  </a:srgbClr>
                </a:solidFill>
                <a:latin typeface="Angella White"/>
              </a:rPr>
              <a:t>TOOLS</a:t>
            </a:r>
          </a:p>
        </p:txBody>
      </p:sp>
      <p:sp>
        <p:nvSpPr>
          <p:cNvPr name="TextBox 3" id="3"/>
          <p:cNvSpPr txBox="true"/>
          <p:nvPr/>
        </p:nvSpPr>
        <p:spPr>
          <a:xfrm rot="0">
            <a:off x="2446144" y="1990298"/>
            <a:ext cx="6352463" cy="1041282"/>
          </a:xfrm>
          <a:prstGeom prst="rect">
            <a:avLst/>
          </a:prstGeom>
        </p:spPr>
        <p:txBody>
          <a:bodyPr anchor="t" rtlCol="false" tIns="0" lIns="0" bIns="0" rIns="0">
            <a:spAutoFit/>
          </a:bodyPr>
          <a:lstStyle/>
          <a:p>
            <a:pPr algn="ctr">
              <a:lnSpc>
                <a:spcPts val="8428"/>
              </a:lnSpc>
            </a:pPr>
            <a:r>
              <a:rPr lang="en-US" sz="6020">
                <a:solidFill>
                  <a:srgbClr val="000000"/>
                </a:solidFill>
                <a:latin typeface="The Seasons"/>
              </a:rPr>
              <a:t>Tools</a:t>
            </a:r>
          </a:p>
        </p:txBody>
      </p:sp>
      <p:sp>
        <p:nvSpPr>
          <p:cNvPr name="TextBox 4" id="4"/>
          <p:cNvSpPr txBox="true"/>
          <p:nvPr/>
        </p:nvSpPr>
        <p:spPr>
          <a:xfrm rot="0">
            <a:off x="5254778" y="4222830"/>
            <a:ext cx="10278519" cy="4681568"/>
          </a:xfrm>
          <a:prstGeom prst="rect">
            <a:avLst/>
          </a:prstGeom>
        </p:spPr>
        <p:txBody>
          <a:bodyPr anchor="t" rtlCol="false" tIns="0" lIns="0" bIns="0" rIns="0">
            <a:spAutoFit/>
          </a:bodyPr>
          <a:lstStyle/>
          <a:p>
            <a:pPr>
              <a:lnSpc>
                <a:spcPts val="3735"/>
              </a:lnSpc>
            </a:pPr>
            <a:r>
              <a:rPr lang="en-US" sz="2668" spc="266">
                <a:solidFill>
                  <a:srgbClr val="000000"/>
                </a:solidFill>
                <a:latin typeface="Red Hat Display"/>
              </a:rPr>
              <a:t>Various tools, technologies and platforms are used when creating a website. The basic programming language is PHP and its core functions are developed using this language. MySQL database is used to store data. The design of the website is created with HTML and CSS, and the themes are shaped using these languages. JavaScript is used for user interactions and special features. Tools like Bootstrap, which are popular CSS frameworks, can be used for rapid development and responsive design.</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6E3DE"/>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3952875"/>
          <a:ext cx="4876800" cy="3911600"/>
        </p:xfrm>
        <a:graphic>
          <a:graphicData uri="http://schemas.openxmlformats.org/drawingml/2006/table">
            <a:tbl>
              <a:tblPr/>
              <a:tblGrid>
                <a:gridCol w="2438400"/>
                <a:gridCol w="2438400"/>
              </a:tblGrid>
              <a:tr h="561535">
                <a:tc>
                  <a:txBody>
                    <a:bodyPr anchor="t" rtlCol="false"/>
                    <a:lstStyle/>
                    <a:p>
                      <a:pPr algn="l">
                        <a:lnSpc>
                          <a:spcPts val="839"/>
                        </a:lnSpc>
                        <a:defRPr/>
                      </a:pPr>
                      <a:endParaRPr lang="en-US" sz="1100"/>
                    </a:p>
                    <a:p>
                      <a:pPr>
                        <a:lnSpc>
                          <a:spcPts val="1679"/>
                        </a:lnSpc>
                      </a:pPr>
                      <a:r>
                        <a:rPr lang="en-US" sz="1200">
                          <a:solidFill>
                            <a:srgbClr val="000000"/>
                          </a:solidFill>
                          <a:latin typeface="Arimo Bold"/>
                        </a:rPr>
                        <a:t>  Test -Case ID: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679"/>
                        </a:lnSpc>
                      </a:pPr>
                      <a:r>
                        <a:rPr lang="en-US" sz="1200">
                          <a:solidFill>
                            <a:srgbClr val="000000"/>
                          </a:solidFill>
                          <a:latin typeface="Arimo Bold"/>
                        </a:rPr>
                        <a:t>  TC -01</a:t>
                      </a:r>
                    </a:p>
                    <a:p>
                      <a:pPr>
                        <a:lnSpc>
                          <a:spcPts val="839"/>
                        </a:lnSpc>
                      </a:pPr>
                      <a:r>
                        <a:rPr lang="en-US" sz="600">
                          <a:solidFill>
                            <a:srgbClr val="000000"/>
                          </a:solidFill>
                          <a:latin typeface="Arimo Bold"/>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2392">
                <a:tc>
                  <a:txBody>
                    <a:bodyPr anchor="t" rtlCol="false"/>
                    <a:lstStyle/>
                    <a:p>
                      <a:pPr algn="l">
                        <a:lnSpc>
                          <a:spcPts val="839"/>
                        </a:lnSpc>
                        <a:defRPr/>
                      </a:pPr>
                      <a:endParaRPr lang="en-US" sz="1100"/>
                    </a:p>
                    <a:p>
                      <a:pPr>
                        <a:lnSpc>
                          <a:spcPts val="1400"/>
                        </a:lnSpc>
                      </a:pPr>
                      <a:r>
                        <a:rPr lang="en-US" sz="1000">
                          <a:solidFill>
                            <a:srgbClr val="000000"/>
                          </a:solidFill>
                          <a:latin typeface="Arimo"/>
                        </a:rPr>
                        <a:t>  Test –Case Name:</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a:rPr>
                        <a:t>  Donate Form </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2392">
                <a:tc>
                  <a:txBody>
                    <a:bodyPr anchor="t" rtlCol="false"/>
                    <a:lstStyle/>
                    <a:p>
                      <a:pPr algn="l">
                        <a:lnSpc>
                          <a:spcPts val="839"/>
                        </a:lnSpc>
                        <a:defRPr/>
                      </a:pPr>
                      <a:endParaRPr lang="en-US" sz="1100"/>
                    </a:p>
                    <a:p>
                      <a:pPr>
                        <a:lnSpc>
                          <a:spcPts val="1400"/>
                        </a:lnSpc>
                      </a:pPr>
                      <a:r>
                        <a:rPr lang="en-US" sz="1000">
                          <a:solidFill>
                            <a:srgbClr val="000000"/>
                          </a:solidFill>
                          <a:latin typeface="Arimo"/>
                        </a:rPr>
                        <a:t>  Pass/Fail Criteria:</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400"/>
                        </a:lnSpc>
                        <a:defRPr/>
                      </a:pPr>
                      <a:r>
                        <a:rPr lang="en-US" sz="1000">
                          <a:solidFill>
                            <a:srgbClr val="000000"/>
                          </a:solidFill>
                          <a:latin typeface="Arimo"/>
                        </a:rPr>
                        <a:t>System show display donate page and update database with the changes made by the user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2392">
                <a:tc>
                  <a:txBody>
                    <a:bodyPr anchor="t" rtlCol="false"/>
                    <a:lstStyle/>
                    <a:p>
                      <a:pPr algn="l">
                        <a:lnSpc>
                          <a:spcPts val="839"/>
                        </a:lnSpc>
                        <a:defRPr/>
                      </a:pPr>
                      <a:endParaRPr lang="en-US" sz="1100"/>
                    </a:p>
                    <a:p>
                      <a:pPr>
                        <a:lnSpc>
                          <a:spcPts val="1400"/>
                        </a:lnSpc>
                      </a:pPr>
                      <a:r>
                        <a:rPr lang="en-US" sz="1000">
                          <a:solidFill>
                            <a:srgbClr val="000000"/>
                          </a:solidFill>
                          <a:latin typeface="Arimo"/>
                        </a:rPr>
                        <a:t>  Input Data:</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400"/>
                        </a:lnSpc>
                        <a:defRPr/>
                      </a:pPr>
                      <a:r>
                        <a:rPr lang="en-US" sz="1000">
                          <a:solidFill>
                            <a:srgbClr val="000000"/>
                          </a:solidFill>
                          <a:latin typeface="Arimo"/>
                        </a:rPr>
                        <a:t>Donate, First name, Last name, Phone number, E-mail,</a:t>
                      </a:r>
                      <a:endParaRPr lang="en-US" sz="1100"/>
                    </a:p>
                    <a:p>
                      <a:pPr>
                        <a:lnSpc>
                          <a:spcPts val="1400"/>
                        </a:lnSpc>
                      </a:pPr>
                      <a:r>
                        <a:rPr lang="en-US" sz="1000">
                          <a:solidFill>
                            <a:srgbClr val="000000"/>
                          </a:solidFill>
                          <a:latin typeface="Arimo"/>
                        </a:rPr>
                        <a:t>Donation amount, message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36010">
                <a:tc>
                  <a:txBody>
                    <a:bodyPr anchor="t" rtlCol="false"/>
                    <a:lstStyle/>
                    <a:p>
                      <a:pPr algn="l">
                        <a:lnSpc>
                          <a:spcPts val="839"/>
                        </a:lnSpc>
                        <a:defRPr/>
                      </a:pPr>
                      <a:endParaRPr lang="en-US" sz="1100"/>
                    </a:p>
                    <a:p>
                      <a:pPr>
                        <a:lnSpc>
                          <a:spcPts val="1400"/>
                        </a:lnSpc>
                      </a:pPr>
                      <a:r>
                        <a:rPr lang="en-US" sz="1000">
                          <a:solidFill>
                            <a:srgbClr val="000000"/>
                          </a:solidFill>
                          <a:latin typeface="Arimo Bold"/>
                        </a:rPr>
                        <a:t>  Test Proceduce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Bold"/>
                        </a:rPr>
                        <a:t>  Test Results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36010">
                <a:tc>
                  <a:txBody>
                    <a:bodyPr anchor="t" rtlCol="false"/>
                    <a:lstStyle/>
                    <a:p>
                      <a:pPr algn="l">
                        <a:lnSpc>
                          <a:spcPts val="839"/>
                        </a:lnSpc>
                        <a:defRPr/>
                      </a:pPr>
                      <a:endParaRPr lang="en-US" sz="1100"/>
                    </a:p>
                    <a:p>
                      <a:pPr>
                        <a:lnSpc>
                          <a:spcPts val="1400"/>
                        </a:lnSpc>
                      </a:pPr>
                      <a:r>
                        <a:rPr lang="en-US" sz="1000">
                          <a:solidFill>
                            <a:srgbClr val="000000"/>
                          </a:solidFill>
                          <a:latin typeface="Arimo"/>
                        </a:rPr>
                        <a:t>  Step 1:Click Donate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a:rPr>
                        <a:t>  System shows “Donate” panel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50870">
                <a:tc>
                  <a:txBody>
                    <a:bodyPr anchor="t" rtlCol="false"/>
                    <a:lstStyle/>
                    <a:p>
                      <a:pPr algn="l">
                        <a:lnSpc>
                          <a:spcPts val="1400"/>
                        </a:lnSpc>
                        <a:defRPr/>
                      </a:pPr>
                      <a:endParaRPr lang="en-US" sz="1100"/>
                    </a:p>
                    <a:p>
                      <a:pPr>
                        <a:lnSpc>
                          <a:spcPts val="1400"/>
                        </a:lnSpc>
                      </a:pPr>
                      <a:r>
                        <a:rPr lang="en-US" sz="1000">
                          <a:solidFill>
                            <a:srgbClr val="000000"/>
                          </a:solidFill>
                          <a:latin typeface="Arimo"/>
                        </a:rPr>
                        <a:t>  Step 2:Edit Form  </a:t>
                      </a:r>
                    </a:p>
                    <a:p>
                      <a:pPr>
                        <a:lnSpc>
                          <a:spcPts val="1400"/>
                        </a:lnSpc>
                      </a:pPr>
                      <a:r>
                        <a:rPr lang="en-US" sz="10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a:rPr>
                        <a:t>  System saves database with new form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716092" y="1208159"/>
            <a:ext cx="7812567" cy="2067089"/>
          </a:xfrm>
          <a:prstGeom prst="rect">
            <a:avLst/>
          </a:prstGeom>
        </p:spPr>
        <p:txBody>
          <a:bodyPr anchor="t" rtlCol="false" tIns="0" lIns="0" bIns="0" rIns="0">
            <a:spAutoFit/>
          </a:bodyPr>
          <a:lstStyle/>
          <a:p>
            <a:pPr algn="ctr">
              <a:lnSpc>
                <a:spcPts val="16285"/>
              </a:lnSpc>
              <a:spcBef>
                <a:spcPct val="0"/>
              </a:spcBef>
            </a:pPr>
            <a:r>
              <a:rPr lang="en-US" sz="11632">
                <a:solidFill>
                  <a:srgbClr val="7D6854">
                    <a:alpha val="9804"/>
                  </a:srgbClr>
                </a:solidFill>
                <a:latin typeface="Angella White"/>
              </a:rPr>
              <a:t>TESTING</a:t>
            </a:r>
          </a:p>
        </p:txBody>
      </p:sp>
      <p:sp>
        <p:nvSpPr>
          <p:cNvPr name="TextBox 4" id="4"/>
          <p:cNvSpPr txBox="true"/>
          <p:nvPr/>
        </p:nvSpPr>
        <p:spPr>
          <a:xfrm rot="0">
            <a:off x="2446144" y="1990298"/>
            <a:ext cx="6352463" cy="1041282"/>
          </a:xfrm>
          <a:prstGeom prst="rect">
            <a:avLst/>
          </a:prstGeom>
        </p:spPr>
        <p:txBody>
          <a:bodyPr anchor="t" rtlCol="false" tIns="0" lIns="0" bIns="0" rIns="0">
            <a:spAutoFit/>
          </a:bodyPr>
          <a:lstStyle/>
          <a:p>
            <a:pPr algn="ctr">
              <a:lnSpc>
                <a:spcPts val="8428"/>
              </a:lnSpc>
            </a:pPr>
            <a:r>
              <a:rPr lang="en-US" sz="6020">
                <a:solidFill>
                  <a:srgbClr val="000000"/>
                </a:solidFill>
                <a:latin typeface="The Seasons"/>
              </a:rPr>
              <a:t>Testing</a:t>
            </a:r>
          </a:p>
        </p:txBody>
      </p:sp>
      <p:graphicFrame>
        <p:nvGraphicFramePr>
          <p:cNvPr name="Table 5" id="5"/>
          <p:cNvGraphicFramePr>
            <a:graphicFrameLocks noGrp="true"/>
          </p:cNvGraphicFramePr>
          <p:nvPr/>
        </p:nvGraphicFramePr>
        <p:xfrm>
          <a:off x="9144000" y="3952875"/>
          <a:ext cx="4876800" cy="3911600"/>
        </p:xfrm>
        <a:graphic>
          <a:graphicData uri="http://schemas.openxmlformats.org/drawingml/2006/table">
            <a:tbl>
              <a:tblPr/>
              <a:tblGrid>
                <a:gridCol w="2438400"/>
                <a:gridCol w="2438400"/>
              </a:tblGrid>
              <a:tr h="561535">
                <a:tc>
                  <a:txBody>
                    <a:bodyPr anchor="t" rtlCol="false"/>
                    <a:lstStyle/>
                    <a:p>
                      <a:pPr algn="l">
                        <a:lnSpc>
                          <a:spcPts val="839"/>
                        </a:lnSpc>
                        <a:defRPr/>
                      </a:pPr>
                      <a:endParaRPr lang="en-US" sz="1100"/>
                    </a:p>
                    <a:p>
                      <a:pPr>
                        <a:lnSpc>
                          <a:spcPts val="1679"/>
                        </a:lnSpc>
                      </a:pPr>
                      <a:r>
                        <a:rPr lang="en-US" sz="1200">
                          <a:solidFill>
                            <a:srgbClr val="000000"/>
                          </a:solidFill>
                          <a:latin typeface="Arimo Bold"/>
                        </a:rPr>
                        <a:t>  Test -Case ID: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679"/>
                        </a:lnSpc>
                      </a:pPr>
                      <a:r>
                        <a:rPr lang="en-US" sz="1200">
                          <a:solidFill>
                            <a:srgbClr val="000000"/>
                          </a:solidFill>
                          <a:latin typeface="Arimo Bold"/>
                        </a:rPr>
                        <a:t>  TC -02</a:t>
                      </a:r>
                    </a:p>
                    <a:p>
                      <a:pPr>
                        <a:lnSpc>
                          <a:spcPts val="839"/>
                        </a:lnSpc>
                      </a:pPr>
                      <a:r>
                        <a:rPr lang="en-US" sz="600">
                          <a:solidFill>
                            <a:srgbClr val="000000"/>
                          </a:solidFill>
                          <a:latin typeface="Arimo Bold"/>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2392">
                <a:tc>
                  <a:txBody>
                    <a:bodyPr anchor="t" rtlCol="false"/>
                    <a:lstStyle/>
                    <a:p>
                      <a:pPr algn="l">
                        <a:lnSpc>
                          <a:spcPts val="839"/>
                        </a:lnSpc>
                        <a:defRPr/>
                      </a:pPr>
                      <a:endParaRPr lang="en-US" sz="1100"/>
                    </a:p>
                    <a:p>
                      <a:pPr>
                        <a:lnSpc>
                          <a:spcPts val="1400"/>
                        </a:lnSpc>
                      </a:pPr>
                      <a:r>
                        <a:rPr lang="en-US" sz="1000">
                          <a:solidFill>
                            <a:srgbClr val="000000"/>
                          </a:solidFill>
                          <a:latin typeface="Arimo"/>
                        </a:rPr>
                        <a:t>  Test –Case Name:</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a:rPr>
                        <a:t>Foster Family Request Form</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2392">
                <a:tc>
                  <a:txBody>
                    <a:bodyPr anchor="t" rtlCol="false"/>
                    <a:lstStyle/>
                    <a:p>
                      <a:pPr algn="l">
                        <a:lnSpc>
                          <a:spcPts val="839"/>
                        </a:lnSpc>
                        <a:defRPr/>
                      </a:pPr>
                      <a:endParaRPr lang="en-US" sz="1100"/>
                    </a:p>
                    <a:p>
                      <a:pPr>
                        <a:lnSpc>
                          <a:spcPts val="1400"/>
                        </a:lnSpc>
                      </a:pPr>
                      <a:r>
                        <a:rPr lang="en-US" sz="1000">
                          <a:solidFill>
                            <a:srgbClr val="000000"/>
                          </a:solidFill>
                          <a:latin typeface="Arimo"/>
                        </a:rPr>
                        <a:t>  Pass/Fail Criteria:</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400"/>
                        </a:lnSpc>
                        <a:defRPr/>
                      </a:pPr>
                      <a:r>
                        <a:rPr lang="en-US" sz="1000">
                          <a:solidFill>
                            <a:srgbClr val="000000"/>
                          </a:solidFill>
                          <a:latin typeface="Arimo"/>
                        </a:rPr>
                        <a:t>System show display child details page and update database with the changes made by the user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2392">
                <a:tc>
                  <a:txBody>
                    <a:bodyPr anchor="t" rtlCol="false"/>
                    <a:lstStyle/>
                    <a:p>
                      <a:pPr algn="l">
                        <a:lnSpc>
                          <a:spcPts val="839"/>
                        </a:lnSpc>
                        <a:defRPr/>
                      </a:pPr>
                      <a:endParaRPr lang="en-US" sz="1100"/>
                    </a:p>
                    <a:p>
                      <a:pPr>
                        <a:lnSpc>
                          <a:spcPts val="1400"/>
                        </a:lnSpc>
                      </a:pPr>
                      <a:r>
                        <a:rPr lang="en-US" sz="1000">
                          <a:solidFill>
                            <a:srgbClr val="000000"/>
                          </a:solidFill>
                          <a:latin typeface="Arimo"/>
                        </a:rPr>
                        <a:t>  Input Data:</a:t>
                      </a:r>
                    </a:p>
                    <a:p>
                      <a:pPr>
                        <a:lnSpc>
                          <a:spcPts val="839"/>
                        </a:lnSpc>
                      </a:pPr>
                      <a:r>
                        <a:rPr lang="en-US" sz="6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400"/>
                        </a:lnSpc>
                        <a:defRPr/>
                      </a:pPr>
                      <a:r>
                        <a:rPr lang="en-US" sz="1000">
                          <a:solidFill>
                            <a:srgbClr val="000000"/>
                          </a:solidFill>
                          <a:latin typeface="Arimo"/>
                        </a:rPr>
                        <a:t>Child name,Parent First name, Parent Last name, Phone number, E-mail, Address, message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36010">
                <a:tc>
                  <a:txBody>
                    <a:bodyPr anchor="t" rtlCol="false"/>
                    <a:lstStyle/>
                    <a:p>
                      <a:pPr algn="l">
                        <a:lnSpc>
                          <a:spcPts val="839"/>
                        </a:lnSpc>
                        <a:defRPr/>
                      </a:pPr>
                      <a:endParaRPr lang="en-US" sz="1100"/>
                    </a:p>
                    <a:p>
                      <a:pPr>
                        <a:lnSpc>
                          <a:spcPts val="1400"/>
                        </a:lnSpc>
                      </a:pPr>
                      <a:r>
                        <a:rPr lang="en-US" sz="1000">
                          <a:solidFill>
                            <a:srgbClr val="000000"/>
                          </a:solidFill>
                          <a:latin typeface="Arimo Bold"/>
                        </a:rPr>
                        <a:t>  Test Proceduce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Bold"/>
                        </a:rPr>
                        <a:t>  Test Results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36010">
                <a:tc>
                  <a:txBody>
                    <a:bodyPr anchor="t" rtlCol="false"/>
                    <a:lstStyle/>
                    <a:p>
                      <a:pPr algn="l">
                        <a:lnSpc>
                          <a:spcPts val="839"/>
                        </a:lnSpc>
                        <a:defRPr/>
                      </a:pPr>
                      <a:endParaRPr lang="en-US" sz="1100"/>
                    </a:p>
                    <a:p>
                      <a:pPr>
                        <a:lnSpc>
                          <a:spcPts val="1400"/>
                        </a:lnSpc>
                      </a:pPr>
                      <a:r>
                        <a:rPr lang="en-US" sz="1000">
                          <a:solidFill>
                            <a:srgbClr val="000000"/>
                          </a:solidFill>
                          <a:latin typeface="Arimo"/>
                        </a:rPr>
                        <a:t>  Step 1:Click Details</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a:rPr>
                        <a:t>System shows “Enter Details” panel</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50870">
                <a:tc>
                  <a:txBody>
                    <a:bodyPr anchor="t" rtlCol="false"/>
                    <a:lstStyle/>
                    <a:p>
                      <a:pPr algn="l">
                        <a:lnSpc>
                          <a:spcPts val="1400"/>
                        </a:lnSpc>
                        <a:defRPr/>
                      </a:pPr>
                      <a:endParaRPr lang="en-US" sz="1100"/>
                    </a:p>
                    <a:p>
                      <a:pPr>
                        <a:lnSpc>
                          <a:spcPts val="1400"/>
                        </a:lnSpc>
                      </a:pPr>
                      <a:r>
                        <a:rPr lang="en-US" sz="1000">
                          <a:solidFill>
                            <a:srgbClr val="000000"/>
                          </a:solidFill>
                          <a:latin typeface="Arimo"/>
                        </a:rPr>
                        <a:t>  Step 2:Edit Form  </a:t>
                      </a:r>
                    </a:p>
                    <a:p>
                      <a:pPr>
                        <a:lnSpc>
                          <a:spcPts val="1400"/>
                        </a:lnSpc>
                      </a:pPr>
                      <a:r>
                        <a:rPr lang="en-US" sz="1000">
                          <a:solidFill>
                            <a:srgbClr val="000000"/>
                          </a:solidFill>
                          <a:latin typeface="Arimo"/>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839"/>
                        </a:lnSpc>
                        <a:defRPr/>
                      </a:pPr>
                      <a:endParaRPr lang="en-US" sz="1100"/>
                    </a:p>
                    <a:p>
                      <a:pPr>
                        <a:lnSpc>
                          <a:spcPts val="1400"/>
                        </a:lnSpc>
                      </a:pPr>
                      <a:r>
                        <a:rPr lang="en-US" sz="1000">
                          <a:solidFill>
                            <a:srgbClr val="000000"/>
                          </a:solidFill>
                          <a:latin typeface="Arimo"/>
                        </a:rPr>
                        <a:t>  System saves database with new form </a:t>
                      </a:r>
                    </a:p>
                    <a:p>
                      <a:pPr>
                        <a:lnSpc>
                          <a:spcPts val="839"/>
                        </a:lnSpc>
                      </a:pPr>
                      <a:r>
                        <a:rPr lang="en-US" sz="600">
                          <a:solidFill>
                            <a:srgbClr val="000000"/>
                          </a:solidFill>
                          <a:latin typeface="Angella White"/>
                        </a:rPr>
                        <a:t>  </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18954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Home Page</a:t>
            </a:r>
          </a:p>
        </p:txBody>
      </p:sp>
      <p:sp>
        <p:nvSpPr>
          <p:cNvPr name="Freeform 3" id="3"/>
          <p:cNvSpPr/>
          <p:nvPr/>
        </p:nvSpPr>
        <p:spPr>
          <a:xfrm flipH="false" flipV="false" rot="0">
            <a:off x="3650612" y="1723046"/>
            <a:ext cx="13892800" cy="8195191"/>
          </a:xfrm>
          <a:custGeom>
            <a:avLst/>
            <a:gdLst/>
            <a:ahLst/>
            <a:cxnLst/>
            <a:rect r="r" b="b" t="t" l="l"/>
            <a:pathLst>
              <a:path h="8195191" w="13892800">
                <a:moveTo>
                  <a:pt x="0" y="0"/>
                </a:moveTo>
                <a:lnTo>
                  <a:pt x="13892800" y="0"/>
                </a:lnTo>
                <a:lnTo>
                  <a:pt x="13892800" y="8195191"/>
                </a:lnTo>
                <a:lnTo>
                  <a:pt x="0" y="8195191"/>
                </a:lnTo>
                <a:lnTo>
                  <a:pt x="0" y="0"/>
                </a:lnTo>
                <a:close/>
              </a:path>
            </a:pathLst>
          </a:custGeom>
          <a:blipFill>
            <a:blip r:embed="rId2"/>
            <a:stretch>
              <a:fillRect l="0" t="0" r="0" b="0"/>
            </a:stretch>
          </a:blipFill>
        </p:spPr>
      </p:sp>
      <p:sp>
        <p:nvSpPr>
          <p:cNvPr name="TextBox 4" id="4"/>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Home Page</a:t>
            </a:r>
          </a:p>
        </p:txBody>
      </p:sp>
      <p:sp>
        <p:nvSpPr>
          <p:cNvPr name="AutoShape 5" id="5"/>
          <p:cNvSpPr/>
          <p:nvPr/>
        </p:nvSpPr>
        <p:spPr>
          <a:xfrm>
            <a:off x="4040570" y="1621195"/>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9159139" y="1621195"/>
            <a:ext cx="1321730" cy="443144"/>
          </a:xfrm>
          <a:prstGeom prst="line">
            <a:avLst/>
          </a:prstGeom>
          <a:ln cap="flat" w="95250">
            <a:solidFill>
              <a:srgbClr val="FF7D00"/>
            </a:solidFill>
            <a:prstDash val="solid"/>
            <a:headEnd type="none" len="sm" w="sm"/>
            <a:tailEnd type="triangle" len="med" w="lg"/>
          </a:ln>
        </p:spPr>
      </p:sp>
      <p:sp>
        <p:nvSpPr>
          <p:cNvPr name="AutoShape 7" id="7"/>
          <p:cNvSpPr/>
          <p:nvPr/>
        </p:nvSpPr>
        <p:spPr>
          <a:xfrm>
            <a:off x="4040570" y="5599069"/>
            <a:ext cx="1321730" cy="443144"/>
          </a:xfrm>
          <a:prstGeom prst="line">
            <a:avLst/>
          </a:prstGeom>
          <a:ln cap="flat" w="95250">
            <a:solidFill>
              <a:srgbClr val="FF7D00"/>
            </a:solidFill>
            <a:prstDash val="solid"/>
            <a:headEnd type="none" len="sm" w="sm"/>
            <a:tailEnd type="triangle" len="med" w="lg"/>
          </a:ln>
        </p:spPr>
      </p:sp>
      <p:sp>
        <p:nvSpPr>
          <p:cNvPr name="AutoShape 8" id="8"/>
          <p:cNvSpPr/>
          <p:nvPr/>
        </p:nvSpPr>
        <p:spPr>
          <a:xfrm>
            <a:off x="4040570" y="3759712"/>
            <a:ext cx="1321730" cy="443144"/>
          </a:xfrm>
          <a:prstGeom prst="line">
            <a:avLst/>
          </a:prstGeom>
          <a:ln cap="flat" w="95250">
            <a:solidFill>
              <a:srgbClr val="FF7D00"/>
            </a:solidFill>
            <a:prstDash val="solid"/>
            <a:headEnd type="none" len="sm" w="sm"/>
            <a:tailEnd type="triangle" len="med" w="lg"/>
          </a:ln>
        </p:spPr>
      </p:sp>
      <p:sp>
        <p:nvSpPr>
          <p:cNvPr name="AutoShape 9" id="9"/>
          <p:cNvSpPr/>
          <p:nvPr/>
        </p:nvSpPr>
        <p:spPr>
          <a:xfrm>
            <a:off x="9835144" y="3492985"/>
            <a:ext cx="1321730" cy="443144"/>
          </a:xfrm>
          <a:prstGeom prst="line">
            <a:avLst/>
          </a:prstGeom>
          <a:ln cap="flat" w="95250">
            <a:solidFill>
              <a:srgbClr val="FF7D00"/>
            </a:solidFill>
            <a:prstDash val="solid"/>
            <a:headEnd type="none" len="sm" w="sm"/>
            <a:tailEnd type="triangle" len="med" w="lg"/>
          </a:ln>
        </p:spPr>
      </p:sp>
      <p:sp>
        <p:nvSpPr>
          <p:cNvPr name="AutoShape 10" id="10"/>
          <p:cNvSpPr/>
          <p:nvPr/>
        </p:nvSpPr>
        <p:spPr>
          <a:xfrm>
            <a:off x="4716574" y="7889260"/>
            <a:ext cx="1321730" cy="443144"/>
          </a:xfrm>
          <a:prstGeom prst="line">
            <a:avLst/>
          </a:prstGeom>
          <a:ln cap="flat" w="95250">
            <a:solidFill>
              <a:srgbClr val="FF7D00"/>
            </a:solidFill>
            <a:prstDash val="solid"/>
            <a:headEnd type="none" len="sm" w="sm"/>
            <a:tailEnd type="triangle" len="med" w="lg"/>
          </a:ln>
        </p:spPr>
      </p:sp>
      <p:sp>
        <p:nvSpPr>
          <p:cNvPr name="AutoShape 11" id="11"/>
          <p:cNvSpPr/>
          <p:nvPr/>
        </p:nvSpPr>
        <p:spPr>
          <a:xfrm>
            <a:off x="7307059" y="7889260"/>
            <a:ext cx="1321730" cy="443144"/>
          </a:xfrm>
          <a:prstGeom prst="line">
            <a:avLst/>
          </a:prstGeom>
          <a:ln cap="flat" w="95250">
            <a:solidFill>
              <a:srgbClr val="FF7D00"/>
            </a:solidFill>
            <a:prstDash val="solid"/>
            <a:headEnd type="none" len="sm" w="sm"/>
            <a:tailEnd type="triangle" len="med" w="lg"/>
          </a:ln>
        </p:spPr>
      </p:sp>
      <p:sp>
        <p:nvSpPr>
          <p:cNvPr name="AutoShape 12" id="12"/>
          <p:cNvSpPr/>
          <p:nvPr/>
        </p:nvSpPr>
        <p:spPr>
          <a:xfrm>
            <a:off x="9835144" y="7889260"/>
            <a:ext cx="1321730" cy="443144"/>
          </a:xfrm>
          <a:prstGeom prst="line">
            <a:avLst/>
          </a:prstGeom>
          <a:ln cap="flat" w="95250">
            <a:solidFill>
              <a:srgbClr val="FF7D00"/>
            </a:solidFill>
            <a:prstDash val="solid"/>
            <a:headEnd type="none" len="sm" w="sm"/>
            <a:tailEnd type="triangle" len="med" w="lg"/>
          </a:ln>
        </p:spPr>
      </p:sp>
      <p:sp>
        <p:nvSpPr>
          <p:cNvPr name="AutoShape 13" id="13"/>
          <p:cNvSpPr/>
          <p:nvPr/>
        </p:nvSpPr>
        <p:spPr>
          <a:xfrm>
            <a:off x="12520892" y="7889260"/>
            <a:ext cx="1321730" cy="443144"/>
          </a:xfrm>
          <a:prstGeom prst="line">
            <a:avLst/>
          </a:prstGeom>
          <a:ln cap="flat" w="95250">
            <a:solidFill>
              <a:srgbClr val="FF7D00"/>
            </a:solidFill>
            <a:prstDash val="solid"/>
            <a:headEnd type="none" len="sm" w="sm"/>
            <a:tailEnd type="triangle" len="med" w="lg"/>
          </a:ln>
        </p:spPr>
      </p:sp>
      <p:sp>
        <p:nvSpPr>
          <p:cNvPr name="AutoShape 14" id="14"/>
          <p:cNvSpPr/>
          <p:nvPr/>
        </p:nvSpPr>
        <p:spPr>
          <a:xfrm>
            <a:off x="10612151" y="1354469"/>
            <a:ext cx="1321730" cy="443144"/>
          </a:xfrm>
          <a:prstGeom prst="line">
            <a:avLst/>
          </a:prstGeom>
          <a:ln cap="flat" w="95250">
            <a:solidFill>
              <a:srgbClr val="FF7D00"/>
            </a:solidFill>
            <a:prstDash val="solid"/>
            <a:headEnd type="none" len="sm" w="sm"/>
            <a:tailEnd type="triangle" len="med" w="lg"/>
          </a:ln>
        </p:spPr>
      </p:sp>
      <p:sp>
        <p:nvSpPr>
          <p:cNvPr name="AutoShape 15" id="15"/>
          <p:cNvSpPr/>
          <p:nvPr/>
        </p:nvSpPr>
        <p:spPr>
          <a:xfrm>
            <a:off x="12520892" y="1354469"/>
            <a:ext cx="1321730" cy="443144"/>
          </a:xfrm>
          <a:prstGeom prst="line">
            <a:avLst/>
          </a:prstGeom>
          <a:ln cap="flat" w="95250">
            <a:solidFill>
              <a:srgbClr val="FF7D00"/>
            </a:solidFill>
            <a:prstDash val="solid"/>
            <a:headEnd type="none" len="sm" w="sm"/>
            <a:tailEnd type="triangle" len="med" w="lg"/>
          </a:ln>
        </p:spPr>
      </p:sp>
      <p:sp>
        <p:nvSpPr>
          <p:cNvPr name="AutoShape 16" id="16"/>
          <p:cNvSpPr/>
          <p:nvPr/>
        </p:nvSpPr>
        <p:spPr>
          <a:xfrm>
            <a:off x="13872901" y="1354469"/>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3602987" y="1723046"/>
            <a:ext cx="13909804" cy="7950248"/>
          </a:xfrm>
          <a:custGeom>
            <a:avLst/>
            <a:gdLst/>
            <a:ahLst/>
            <a:cxnLst/>
            <a:rect r="r" b="b" t="t" l="l"/>
            <a:pathLst>
              <a:path h="7950248" w="13909804">
                <a:moveTo>
                  <a:pt x="0" y="0"/>
                </a:moveTo>
                <a:lnTo>
                  <a:pt x="13909804" y="0"/>
                </a:lnTo>
                <a:lnTo>
                  <a:pt x="13909804" y="7950248"/>
                </a:lnTo>
                <a:lnTo>
                  <a:pt x="0" y="7950248"/>
                </a:lnTo>
                <a:lnTo>
                  <a:pt x="0" y="0"/>
                </a:lnTo>
                <a:close/>
              </a:path>
            </a:pathLst>
          </a:custGeom>
          <a:blipFill>
            <a:blip r:embed="rId2"/>
            <a:stretch>
              <a:fillRect l="0" t="0" r="0" b="0"/>
            </a:stretch>
          </a:blipFill>
        </p:spPr>
      </p:sp>
      <p:sp>
        <p:nvSpPr>
          <p:cNvPr name="TextBox 3" id="3"/>
          <p:cNvSpPr txBox="true"/>
          <p:nvPr/>
        </p:nvSpPr>
        <p:spPr>
          <a:xfrm rot="0">
            <a:off x="-18954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Home Page</a:t>
            </a:r>
          </a:p>
        </p:txBody>
      </p:sp>
      <p:sp>
        <p:nvSpPr>
          <p:cNvPr name="TextBox 4" id="4"/>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Home Page</a:t>
            </a:r>
          </a:p>
        </p:txBody>
      </p:sp>
      <p:sp>
        <p:nvSpPr>
          <p:cNvPr name="AutoShape 5" id="5"/>
          <p:cNvSpPr/>
          <p:nvPr/>
        </p:nvSpPr>
        <p:spPr>
          <a:xfrm>
            <a:off x="4206489" y="2930115"/>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5558498" y="6045712"/>
            <a:ext cx="1321730" cy="443144"/>
          </a:xfrm>
          <a:prstGeom prst="line">
            <a:avLst/>
          </a:prstGeom>
          <a:ln cap="flat" w="95250">
            <a:solidFill>
              <a:srgbClr val="FF7D00"/>
            </a:solidFill>
            <a:prstDash val="solid"/>
            <a:headEnd type="none" len="sm" w="sm"/>
            <a:tailEnd type="triangle" len="med" w="lg"/>
          </a:ln>
        </p:spPr>
      </p:sp>
      <p:sp>
        <p:nvSpPr>
          <p:cNvPr name="AutoShape 7" id="7"/>
          <p:cNvSpPr/>
          <p:nvPr/>
        </p:nvSpPr>
        <p:spPr>
          <a:xfrm>
            <a:off x="3618126" y="8368583"/>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3243647" y="2293690"/>
            <a:ext cx="14442878" cy="6964610"/>
          </a:xfrm>
          <a:custGeom>
            <a:avLst/>
            <a:gdLst/>
            <a:ahLst/>
            <a:cxnLst/>
            <a:rect r="r" b="b" t="t" l="l"/>
            <a:pathLst>
              <a:path h="6964610" w="14442878">
                <a:moveTo>
                  <a:pt x="0" y="0"/>
                </a:moveTo>
                <a:lnTo>
                  <a:pt x="14442878" y="0"/>
                </a:lnTo>
                <a:lnTo>
                  <a:pt x="14442878" y="6964610"/>
                </a:lnTo>
                <a:lnTo>
                  <a:pt x="0" y="6964610"/>
                </a:lnTo>
                <a:lnTo>
                  <a:pt x="0" y="0"/>
                </a:lnTo>
                <a:close/>
              </a:path>
            </a:pathLst>
          </a:custGeom>
          <a:blipFill>
            <a:blip r:embed="rId2"/>
            <a:stretch>
              <a:fillRect l="0" t="0" r="0" b="0"/>
            </a:stretch>
          </a:blipFill>
        </p:spPr>
      </p:sp>
      <p:sp>
        <p:nvSpPr>
          <p:cNvPr name="TextBox 3" id="3"/>
          <p:cNvSpPr txBox="true"/>
          <p:nvPr/>
        </p:nvSpPr>
        <p:spPr>
          <a:xfrm rot="0">
            <a:off x="-18954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Home Page</a:t>
            </a:r>
          </a:p>
        </p:txBody>
      </p:sp>
      <p:sp>
        <p:nvSpPr>
          <p:cNvPr name="TextBox 4" id="4"/>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Home Page</a:t>
            </a:r>
          </a:p>
        </p:txBody>
      </p:sp>
      <p:sp>
        <p:nvSpPr>
          <p:cNvPr name="AutoShape 5" id="5"/>
          <p:cNvSpPr/>
          <p:nvPr/>
        </p:nvSpPr>
        <p:spPr>
          <a:xfrm>
            <a:off x="3258786" y="8307292"/>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4537607" y="3872530"/>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3327667" y="1723046"/>
            <a:ext cx="14240878" cy="8244031"/>
          </a:xfrm>
          <a:custGeom>
            <a:avLst/>
            <a:gdLst/>
            <a:ahLst/>
            <a:cxnLst/>
            <a:rect r="r" b="b" t="t" l="l"/>
            <a:pathLst>
              <a:path h="8244031" w="14240878">
                <a:moveTo>
                  <a:pt x="0" y="0"/>
                </a:moveTo>
                <a:lnTo>
                  <a:pt x="14240877" y="0"/>
                </a:lnTo>
                <a:lnTo>
                  <a:pt x="14240877" y="8244031"/>
                </a:lnTo>
                <a:lnTo>
                  <a:pt x="0" y="8244031"/>
                </a:lnTo>
                <a:lnTo>
                  <a:pt x="0" y="0"/>
                </a:lnTo>
                <a:close/>
              </a:path>
            </a:pathLst>
          </a:custGeom>
          <a:blipFill>
            <a:blip r:embed="rId2"/>
            <a:stretch>
              <a:fillRect l="0" t="0" r="0" b="0"/>
            </a:stretch>
          </a:blipFill>
        </p:spPr>
      </p:sp>
      <p:sp>
        <p:nvSpPr>
          <p:cNvPr name="TextBox 3" id="3"/>
          <p:cNvSpPr txBox="true"/>
          <p:nvPr/>
        </p:nvSpPr>
        <p:spPr>
          <a:xfrm rot="0">
            <a:off x="-18954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Donate</a:t>
            </a:r>
          </a:p>
        </p:txBody>
      </p:sp>
      <p:sp>
        <p:nvSpPr>
          <p:cNvPr name="TextBox 4" id="4"/>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Donate</a:t>
            </a:r>
          </a:p>
        </p:txBody>
      </p:sp>
      <p:sp>
        <p:nvSpPr>
          <p:cNvPr name="AutoShape 5" id="5"/>
          <p:cNvSpPr/>
          <p:nvPr/>
        </p:nvSpPr>
        <p:spPr>
          <a:xfrm>
            <a:off x="13442666" y="1278551"/>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6802505" y="7547896"/>
            <a:ext cx="1321730" cy="443144"/>
          </a:xfrm>
          <a:prstGeom prst="line">
            <a:avLst/>
          </a:prstGeom>
          <a:ln cap="flat" w="95250">
            <a:solidFill>
              <a:srgbClr val="B2671E"/>
            </a:solidFill>
            <a:prstDash val="solid"/>
            <a:headEnd type="none" len="sm" w="sm"/>
            <a:tailEnd type="triangle" len="med" w="lg"/>
          </a:ln>
        </p:spPr>
      </p:sp>
      <p:sp>
        <p:nvSpPr>
          <p:cNvPr name="AutoShape 7" id="7"/>
          <p:cNvSpPr/>
          <p:nvPr/>
        </p:nvSpPr>
        <p:spPr>
          <a:xfrm>
            <a:off x="6621530" y="3143352"/>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3557384" y="1723046"/>
            <a:ext cx="13902976" cy="7980408"/>
          </a:xfrm>
          <a:custGeom>
            <a:avLst/>
            <a:gdLst/>
            <a:ahLst/>
            <a:cxnLst/>
            <a:rect r="r" b="b" t="t" l="l"/>
            <a:pathLst>
              <a:path h="7980408" w="13902976">
                <a:moveTo>
                  <a:pt x="0" y="0"/>
                </a:moveTo>
                <a:lnTo>
                  <a:pt x="13902975" y="0"/>
                </a:lnTo>
                <a:lnTo>
                  <a:pt x="13902975" y="7980408"/>
                </a:lnTo>
                <a:lnTo>
                  <a:pt x="0" y="7980408"/>
                </a:lnTo>
                <a:lnTo>
                  <a:pt x="0" y="0"/>
                </a:lnTo>
                <a:close/>
              </a:path>
            </a:pathLst>
          </a:custGeom>
          <a:blipFill>
            <a:blip r:embed="rId2"/>
            <a:stretch>
              <a:fillRect l="0" t="0" r="0" b="0"/>
            </a:stretch>
          </a:blipFill>
        </p:spPr>
      </p:sp>
      <p:sp>
        <p:nvSpPr>
          <p:cNvPr name="TextBox 3" id="3"/>
          <p:cNvSpPr txBox="true"/>
          <p:nvPr/>
        </p:nvSpPr>
        <p:spPr>
          <a:xfrm rot="0">
            <a:off x="-1895432" y="-227293"/>
            <a:ext cx="14395310"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Orphans and Poor Families</a:t>
            </a:r>
          </a:p>
        </p:txBody>
      </p:sp>
      <p:sp>
        <p:nvSpPr>
          <p:cNvPr name="TextBox 4" id="4"/>
          <p:cNvSpPr txBox="true"/>
          <p:nvPr/>
        </p:nvSpPr>
        <p:spPr>
          <a:xfrm rot="0">
            <a:off x="-477987" y="795502"/>
            <a:ext cx="8597924"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Orphans and Poor Families</a:t>
            </a:r>
          </a:p>
        </p:txBody>
      </p:sp>
      <p:sp>
        <p:nvSpPr>
          <p:cNvPr name="AutoShape 5" id="5"/>
          <p:cNvSpPr/>
          <p:nvPr/>
        </p:nvSpPr>
        <p:spPr>
          <a:xfrm>
            <a:off x="10524011" y="1354469"/>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5681328" y="4073115"/>
            <a:ext cx="1321730" cy="443144"/>
          </a:xfrm>
          <a:prstGeom prst="line">
            <a:avLst/>
          </a:prstGeom>
          <a:ln cap="flat" w="95250">
            <a:solidFill>
              <a:srgbClr val="FF7D00"/>
            </a:solidFill>
            <a:prstDash val="solid"/>
            <a:headEnd type="none" len="sm" w="sm"/>
            <a:tailEnd type="triangle" len="med" w="lg"/>
          </a:ln>
        </p:spPr>
      </p:sp>
      <p:sp>
        <p:nvSpPr>
          <p:cNvPr name="AutoShape 7" id="7"/>
          <p:cNvSpPr/>
          <p:nvPr/>
        </p:nvSpPr>
        <p:spPr>
          <a:xfrm>
            <a:off x="6357332" y="5990405"/>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3615622" y="1723046"/>
            <a:ext cx="14021314" cy="8024777"/>
          </a:xfrm>
          <a:custGeom>
            <a:avLst/>
            <a:gdLst/>
            <a:ahLst/>
            <a:cxnLst/>
            <a:rect r="r" b="b" t="t" l="l"/>
            <a:pathLst>
              <a:path h="8024777" w="14021314">
                <a:moveTo>
                  <a:pt x="0" y="0"/>
                </a:moveTo>
                <a:lnTo>
                  <a:pt x="14021314" y="0"/>
                </a:lnTo>
                <a:lnTo>
                  <a:pt x="14021314" y="8024777"/>
                </a:lnTo>
                <a:lnTo>
                  <a:pt x="0" y="8024777"/>
                </a:lnTo>
                <a:lnTo>
                  <a:pt x="0" y="0"/>
                </a:lnTo>
                <a:close/>
              </a:path>
            </a:pathLst>
          </a:custGeom>
          <a:blipFill>
            <a:blip r:embed="rId2"/>
            <a:stretch>
              <a:fillRect l="0" t="0" r="0" b="0"/>
            </a:stretch>
          </a:blipFill>
        </p:spPr>
      </p:sp>
      <p:sp>
        <p:nvSpPr>
          <p:cNvPr name="TextBox 3" id="3"/>
          <p:cNvSpPr txBox="true"/>
          <p:nvPr/>
        </p:nvSpPr>
        <p:spPr>
          <a:xfrm rot="0">
            <a:off x="-1895432" y="-227293"/>
            <a:ext cx="14395310"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Orphans and Poor Families</a:t>
            </a:r>
          </a:p>
        </p:txBody>
      </p:sp>
      <p:sp>
        <p:nvSpPr>
          <p:cNvPr name="TextBox 4" id="4"/>
          <p:cNvSpPr txBox="true"/>
          <p:nvPr/>
        </p:nvSpPr>
        <p:spPr>
          <a:xfrm rot="0">
            <a:off x="-477987" y="795502"/>
            <a:ext cx="8597924"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Orphans and Poor Families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2418813" y="1723046"/>
            <a:ext cx="14840487" cy="7924087"/>
          </a:xfrm>
          <a:custGeom>
            <a:avLst/>
            <a:gdLst/>
            <a:ahLst/>
            <a:cxnLst/>
            <a:rect r="r" b="b" t="t" l="l"/>
            <a:pathLst>
              <a:path h="7924087" w="14840487">
                <a:moveTo>
                  <a:pt x="0" y="0"/>
                </a:moveTo>
                <a:lnTo>
                  <a:pt x="14840487" y="0"/>
                </a:lnTo>
                <a:lnTo>
                  <a:pt x="14840487" y="7924087"/>
                </a:lnTo>
                <a:lnTo>
                  <a:pt x="0" y="7924087"/>
                </a:lnTo>
                <a:lnTo>
                  <a:pt x="0" y="0"/>
                </a:lnTo>
                <a:close/>
              </a:path>
            </a:pathLst>
          </a:custGeom>
          <a:blipFill>
            <a:blip r:embed="rId2"/>
            <a:stretch>
              <a:fillRect l="0" t="0" r="0" b="0"/>
            </a:stretch>
          </a:blipFill>
        </p:spPr>
      </p:sp>
      <p:sp>
        <p:nvSpPr>
          <p:cNvPr name="TextBox 3" id="3"/>
          <p:cNvSpPr txBox="true"/>
          <p:nvPr/>
        </p:nvSpPr>
        <p:spPr>
          <a:xfrm rot="0">
            <a:off x="-1895432" y="-227293"/>
            <a:ext cx="1433870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Child or Families Details</a:t>
            </a:r>
          </a:p>
        </p:txBody>
      </p:sp>
      <p:sp>
        <p:nvSpPr>
          <p:cNvPr name="TextBox 4" id="4"/>
          <p:cNvSpPr txBox="true"/>
          <p:nvPr/>
        </p:nvSpPr>
        <p:spPr>
          <a:xfrm rot="0">
            <a:off x="390006"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Child or Families Details</a:t>
            </a:r>
          </a:p>
        </p:txBody>
      </p:sp>
      <p:sp>
        <p:nvSpPr>
          <p:cNvPr name="AutoShape 5" id="5"/>
          <p:cNvSpPr/>
          <p:nvPr/>
        </p:nvSpPr>
        <p:spPr>
          <a:xfrm>
            <a:off x="7242465" y="3300192"/>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7242465" y="6001559"/>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2830767" y="1723046"/>
            <a:ext cx="15019404" cy="8158021"/>
          </a:xfrm>
          <a:custGeom>
            <a:avLst/>
            <a:gdLst/>
            <a:ahLst/>
            <a:cxnLst/>
            <a:rect r="r" b="b" t="t" l="l"/>
            <a:pathLst>
              <a:path h="8158021" w="15019404">
                <a:moveTo>
                  <a:pt x="0" y="0"/>
                </a:moveTo>
                <a:lnTo>
                  <a:pt x="15019404" y="0"/>
                </a:lnTo>
                <a:lnTo>
                  <a:pt x="15019404" y="8158022"/>
                </a:lnTo>
                <a:lnTo>
                  <a:pt x="0" y="8158022"/>
                </a:lnTo>
                <a:lnTo>
                  <a:pt x="0" y="0"/>
                </a:lnTo>
                <a:close/>
              </a:path>
            </a:pathLst>
          </a:custGeom>
          <a:blipFill>
            <a:blip r:embed="rId2"/>
            <a:stretch>
              <a:fillRect l="0" t="0" r="0" b="0"/>
            </a:stretch>
          </a:blipFill>
        </p:spPr>
      </p:sp>
      <p:sp>
        <p:nvSpPr>
          <p:cNvPr name="TextBox 3" id="3"/>
          <p:cNvSpPr txBox="true"/>
          <p:nvPr/>
        </p:nvSpPr>
        <p:spPr>
          <a:xfrm rot="0">
            <a:off x="-1895432" y="-227293"/>
            <a:ext cx="1433870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Child or Families Details</a:t>
            </a:r>
          </a:p>
        </p:txBody>
      </p:sp>
      <p:sp>
        <p:nvSpPr>
          <p:cNvPr name="TextBox 4" id="4"/>
          <p:cNvSpPr txBox="true"/>
          <p:nvPr/>
        </p:nvSpPr>
        <p:spPr>
          <a:xfrm rot="0">
            <a:off x="390006"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Child or Families Details</a:t>
            </a:r>
          </a:p>
        </p:txBody>
      </p:sp>
      <p:sp>
        <p:nvSpPr>
          <p:cNvPr name="AutoShape 5" id="5"/>
          <p:cNvSpPr/>
          <p:nvPr/>
        </p:nvSpPr>
        <p:spPr>
          <a:xfrm>
            <a:off x="3514702" y="2403782"/>
            <a:ext cx="1321730" cy="443144"/>
          </a:xfrm>
          <a:prstGeom prst="line">
            <a:avLst/>
          </a:prstGeom>
          <a:ln cap="flat" w="95250">
            <a:solidFill>
              <a:srgbClr val="FF7D00"/>
            </a:solidFill>
            <a:prstDash val="solid"/>
            <a:headEnd type="none" len="sm" w="sm"/>
            <a:tailEnd type="triangle" len="med" w="lg"/>
          </a:ln>
        </p:spPr>
      </p:sp>
      <p:sp>
        <p:nvSpPr>
          <p:cNvPr name="AutoShape 6" id="6"/>
          <p:cNvSpPr/>
          <p:nvPr/>
        </p:nvSpPr>
        <p:spPr>
          <a:xfrm>
            <a:off x="8955975" y="2403782"/>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AutoShape 2" id="2"/>
          <p:cNvSpPr/>
          <p:nvPr/>
        </p:nvSpPr>
        <p:spPr>
          <a:xfrm>
            <a:off x="12416109" y="3241012"/>
            <a:ext cx="1321730" cy="443144"/>
          </a:xfrm>
          <a:prstGeom prst="line">
            <a:avLst/>
          </a:prstGeom>
          <a:ln cap="flat" w="95250">
            <a:solidFill>
              <a:srgbClr val="FF7D00"/>
            </a:solidFill>
            <a:prstDash val="solid"/>
            <a:headEnd type="none" len="sm" w="sm"/>
            <a:tailEnd type="triangle" len="med" w="lg"/>
          </a:ln>
        </p:spPr>
      </p:sp>
      <p:sp>
        <p:nvSpPr>
          <p:cNvPr name="AutoShape 3" id="3"/>
          <p:cNvSpPr/>
          <p:nvPr/>
        </p:nvSpPr>
        <p:spPr>
          <a:xfrm>
            <a:off x="5889615" y="5150563"/>
            <a:ext cx="1321730" cy="443144"/>
          </a:xfrm>
          <a:prstGeom prst="line">
            <a:avLst/>
          </a:prstGeom>
          <a:ln cap="flat" w="95250">
            <a:solidFill>
              <a:srgbClr val="FF7D00"/>
            </a:solidFill>
            <a:prstDash val="solid"/>
            <a:headEnd type="none" len="sm" w="sm"/>
            <a:tailEnd type="triangle" len="med" w="lg"/>
          </a:ln>
        </p:spPr>
      </p:sp>
      <p:sp>
        <p:nvSpPr>
          <p:cNvPr name="Freeform 4" id="4"/>
          <p:cNvSpPr/>
          <p:nvPr/>
        </p:nvSpPr>
        <p:spPr>
          <a:xfrm flipH="false" flipV="false" rot="0">
            <a:off x="4246393" y="2447611"/>
            <a:ext cx="12443365" cy="6382501"/>
          </a:xfrm>
          <a:custGeom>
            <a:avLst/>
            <a:gdLst/>
            <a:ahLst/>
            <a:cxnLst/>
            <a:rect r="r" b="b" t="t" l="l"/>
            <a:pathLst>
              <a:path h="6382501" w="12443365">
                <a:moveTo>
                  <a:pt x="0" y="0"/>
                </a:moveTo>
                <a:lnTo>
                  <a:pt x="12443365" y="0"/>
                </a:lnTo>
                <a:lnTo>
                  <a:pt x="12443365" y="6382502"/>
                </a:lnTo>
                <a:lnTo>
                  <a:pt x="0" y="6382502"/>
                </a:lnTo>
                <a:lnTo>
                  <a:pt x="0" y="0"/>
                </a:lnTo>
                <a:close/>
              </a:path>
            </a:pathLst>
          </a:custGeom>
          <a:blipFill>
            <a:blip r:embed="rId2"/>
            <a:stretch>
              <a:fillRect l="0" t="0" r="0" b="0"/>
            </a:stretch>
          </a:blipFill>
        </p:spPr>
      </p:sp>
      <p:sp>
        <p:nvSpPr>
          <p:cNvPr name="TextBox 5" id="5"/>
          <p:cNvSpPr txBox="true"/>
          <p:nvPr/>
        </p:nvSpPr>
        <p:spPr>
          <a:xfrm rot="0">
            <a:off x="-18954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Volunteers</a:t>
            </a:r>
          </a:p>
        </p:txBody>
      </p:sp>
      <p:sp>
        <p:nvSpPr>
          <p:cNvPr name="TextBox 6" id="6"/>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Volunteers</a:t>
            </a:r>
          </a:p>
        </p:txBody>
      </p:sp>
      <p:sp>
        <p:nvSpPr>
          <p:cNvPr name="AutoShape 7" id="7"/>
          <p:cNvSpPr/>
          <p:nvPr/>
        </p:nvSpPr>
        <p:spPr>
          <a:xfrm>
            <a:off x="12116579" y="3241012"/>
            <a:ext cx="1321730" cy="443144"/>
          </a:xfrm>
          <a:prstGeom prst="line">
            <a:avLst/>
          </a:prstGeom>
          <a:ln cap="flat" w="95250">
            <a:solidFill>
              <a:srgbClr val="FF7D00"/>
            </a:solidFill>
            <a:prstDash val="solid"/>
            <a:headEnd type="none" len="sm" w="sm"/>
            <a:tailEnd type="triangle" len="med" w="lg"/>
          </a:ln>
        </p:spPr>
      </p:sp>
      <p:sp>
        <p:nvSpPr>
          <p:cNvPr name="AutoShape 8" id="8"/>
          <p:cNvSpPr/>
          <p:nvPr/>
        </p:nvSpPr>
        <p:spPr>
          <a:xfrm>
            <a:off x="11440575" y="1959312"/>
            <a:ext cx="1321730" cy="443144"/>
          </a:xfrm>
          <a:prstGeom prst="line">
            <a:avLst/>
          </a:prstGeom>
          <a:ln cap="flat" w="95250">
            <a:solidFill>
              <a:srgbClr val="FF7D00"/>
            </a:solidFill>
            <a:prstDash val="solid"/>
            <a:headEnd type="none" len="sm" w="sm"/>
            <a:tailEnd type="triangle" len="med" w="lg"/>
          </a:ln>
        </p:spPr>
      </p:sp>
      <p:sp>
        <p:nvSpPr>
          <p:cNvPr name="AutoShape 9" id="9"/>
          <p:cNvSpPr/>
          <p:nvPr/>
        </p:nvSpPr>
        <p:spPr>
          <a:xfrm>
            <a:off x="6631055" y="4883836"/>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3620701" y="2365936"/>
            <a:ext cx="13496747" cy="7228383"/>
          </a:xfrm>
          <a:custGeom>
            <a:avLst/>
            <a:gdLst/>
            <a:ahLst/>
            <a:cxnLst/>
            <a:rect r="r" b="b" t="t" l="l"/>
            <a:pathLst>
              <a:path h="7228383" w="13496747">
                <a:moveTo>
                  <a:pt x="0" y="0"/>
                </a:moveTo>
                <a:lnTo>
                  <a:pt x="13496747" y="0"/>
                </a:lnTo>
                <a:lnTo>
                  <a:pt x="13496747" y="7228383"/>
                </a:lnTo>
                <a:lnTo>
                  <a:pt x="0" y="7228383"/>
                </a:lnTo>
                <a:lnTo>
                  <a:pt x="0" y="0"/>
                </a:lnTo>
                <a:close/>
              </a:path>
            </a:pathLst>
          </a:custGeom>
          <a:blipFill>
            <a:blip r:embed="rId2"/>
            <a:stretch>
              <a:fillRect l="0" t="0" r="0" b="0"/>
            </a:stretch>
          </a:blipFill>
        </p:spPr>
      </p:sp>
      <p:sp>
        <p:nvSpPr>
          <p:cNvPr name="TextBox 3" id="3"/>
          <p:cNvSpPr txBox="true"/>
          <p:nvPr/>
        </p:nvSpPr>
        <p:spPr>
          <a:xfrm rot="0">
            <a:off x="-17430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Join Volunteers</a:t>
            </a:r>
          </a:p>
        </p:txBody>
      </p:sp>
      <p:sp>
        <p:nvSpPr>
          <p:cNvPr name="TextBox 4" id="4"/>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Join Volunteers</a:t>
            </a:r>
          </a:p>
        </p:txBody>
      </p:sp>
      <p:sp>
        <p:nvSpPr>
          <p:cNvPr name="AutoShape 5" id="5"/>
          <p:cNvSpPr/>
          <p:nvPr/>
        </p:nvSpPr>
        <p:spPr>
          <a:xfrm>
            <a:off x="6783455" y="4655201"/>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AF9F8"/>
        </a:solidFill>
      </p:bgPr>
    </p:bg>
    <p:spTree>
      <p:nvGrpSpPr>
        <p:cNvPr id="1" name=""/>
        <p:cNvGrpSpPr/>
        <p:nvPr/>
      </p:nvGrpSpPr>
      <p:grpSpPr>
        <a:xfrm>
          <a:off x="0" y="0"/>
          <a:ext cx="0" cy="0"/>
          <a:chOff x="0" y="0"/>
          <a:chExt cx="0" cy="0"/>
        </a:xfrm>
      </p:grpSpPr>
      <p:sp>
        <p:nvSpPr>
          <p:cNvPr name="Freeform 2" id="2"/>
          <p:cNvSpPr/>
          <p:nvPr/>
        </p:nvSpPr>
        <p:spPr>
          <a:xfrm flipH="false" flipV="false" rot="0">
            <a:off x="2979693" y="1723046"/>
            <a:ext cx="14695967" cy="7682259"/>
          </a:xfrm>
          <a:custGeom>
            <a:avLst/>
            <a:gdLst/>
            <a:ahLst/>
            <a:cxnLst/>
            <a:rect r="r" b="b" t="t" l="l"/>
            <a:pathLst>
              <a:path h="7682259" w="14695967">
                <a:moveTo>
                  <a:pt x="0" y="0"/>
                </a:moveTo>
                <a:lnTo>
                  <a:pt x="14695967" y="0"/>
                </a:lnTo>
                <a:lnTo>
                  <a:pt x="14695967" y="7682259"/>
                </a:lnTo>
                <a:lnTo>
                  <a:pt x="0" y="7682259"/>
                </a:lnTo>
                <a:lnTo>
                  <a:pt x="0" y="0"/>
                </a:lnTo>
                <a:close/>
              </a:path>
            </a:pathLst>
          </a:custGeom>
          <a:blipFill>
            <a:blip r:embed="rId2"/>
            <a:stretch>
              <a:fillRect l="0" t="0" r="0" b="0"/>
            </a:stretch>
          </a:blipFill>
        </p:spPr>
      </p:sp>
      <p:sp>
        <p:nvSpPr>
          <p:cNvPr name="TextBox 3" id="3"/>
          <p:cNvSpPr txBox="true"/>
          <p:nvPr/>
        </p:nvSpPr>
        <p:spPr>
          <a:xfrm rot="0">
            <a:off x="-1743032" y="-227293"/>
            <a:ext cx="9187351" cy="1950339"/>
          </a:xfrm>
          <a:prstGeom prst="rect">
            <a:avLst/>
          </a:prstGeom>
        </p:spPr>
        <p:txBody>
          <a:bodyPr anchor="t" rtlCol="false" tIns="0" lIns="0" bIns="0" rIns="0">
            <a:spAutoFit/>
          </a:bodyPr>
          <a:lstStyle/>
          <a:p>
            <a:pPr algn="ctr">
              <a:lnSpc>
                <a:spcPts val="15351"/>
              </a:lnSpc>
              <a:spcBef>
                <a:spcPct val="0"/>
              </a:spcBef>
            </a:pPr>
            <a:r>
              <a:rPr lang="en-US" sz="10965">
                <a:solidFill>
                  <a:srgbClr val="FA7B00">
                    <a:alpha val="9804"/>
                  </a:srgbClr>
                </a:solidFill>
                <a:latin typeface="Angella White"/>
              </a:rPr>
              <a:t>Join Volunteers</a:t>
            </a:r>
          </a:p>
        </p:txBody>
      </p:sp>
      <p:sp>
        <p:nvSpPr>
          <p:cNvPr name="TextBox 4" id="4"/>
          <p:cNvSpPr txBox="true"/>
          <p:nvPr/>
        </p:nvSpPr>
        <p:spPr>
          <a:xfrm rot="0">
            <a:off x="-477987" y="795502"/>
            <a:ext cx="6352463" cy="780539"/>
          </a:xfrm>
          <a:prstGeom prst="rect">
            <a:avLst/>
          </a:prstGeom>
        </p:spPr>
        <p:txBody>
          <a:bodyPr anchor="t" rtlCol="false" tIns="0" lIns="0" bIns="0" rIns="0">
            <a:spAutoFit/>
          </a:bodyPr>
          <a:lstStyle/>
          <a:p>
            <a:pPr algn="ctr">
              <a:lnSpc>
                <a:spcPts val="6328"/>
              </a:lnSpc>
            </a:pPr>
            <a:r>
              <a:rPr lang="en-US" sz="4520">
                <a:solidFill>
                  <a:srgbClr val="000000"/>
                </a:solidFill>
                <a:latin typeface="The Seasons"/>
              </a:rPr>
              <a:t>Join Volunteers</a:t>
            </a:r>
          </a:p>
        </p:txBody>
      </p:sp>
      <p:sp>
        <p:nvSpPr>
          <p:cNvPr name="AutoShape 5" id="5"/>
          <p:cNvSpPr/>
          <p:nvPr/>
        </p:nvSpPr>
        <p:spPr>
          <a:xfrm>
            <a:off x="3671860" y="4921928"/>
            <a:ext cx="1321730" cy="443144"/>
          </a:xfrm>
          <a:prstGeom prst="line">
            <a:avLst/>
          </a:prstGeom>
          <a:ln cap="flat" w="95250">
            <a:solidFill>
              <a:srgbClr val="FF7D00"/>
            </a:solidFill>
            <a:prstDash val="solid"/>
            <a:headEnd type="none" len="sm" w="sm"/>
            <a:tailEnd type="triangle" len="med" w="lg"/>
          </a:ln>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E6E3DE"/>
        </a:solidFill>
      </p:bgPr>
    </p:bg>
    <p:spTree>
      <p:nvGrpSpPr>
        <p:cNvPr id="1" name=""/>
        <p:cNvGrpSpPr/>
        <p:nvPr/>
      </p:nvGrpSpPr>
      <p:grpSpPr>
        <a:xfrm>
          <a:off x="0" y="0"/>
          <a:ext cx="0" cy="0"/>
          <a:chOff x="0" y="0"/>
          <a:chExt cx="0" cy="0"/>
        </a:xfrm>
      </p:grpSpPr>
      <p:sp>
        <p:nvSpPr>
          <p:cNvPr name="TextBox 2" id="2"/>
          <p:cNvSpPr txBox="true"/>
          <p:nvPr/>
        </p:nvSpPr>
        <p:spPr>
          <a:xfrm rot="0">
            <a:off x="2446144" y="647279"/>
            <a:ext cx="6352463" cy="3045974"/>
          </a:xfrm>
          <a:prstGeom prst="rect">
            <a:avLst/>
          </a:prstGeom>
        </p:spPr>
        <p:txBody>
          <a:bodyPr anchor="t" rtlCol="false" tIns="0" lIns="0" bIns="0" rIns="0">
            <a:spAutoFit/>
          </a:bodyPr>
          <a:lstStyle/>
          <a:p>
            <a:pPr algn="ctr">
              <a:lnSpc>
                <a:spcPts val="23969"/>
              </a:lnSpc>
              <a:spcBef>
                <a:spcPct val="0"/>
              </a:spcBef>
            </a:pPr>
            <a:r>
              <a:rPr lang="en-US" sz="17121">
                <a:solidFill>
                  <a:srgbClr val="7D6854">
                    <a:alpha val="9804"/>
                  </a:srgbClr>
                </a:solidFill>
                <a:latin typeface="Angella White"/>
              </a:rPr>
              <a:t>Conclusion</a:t>
            </a:r>
          </a:p>
        </p:txBody>
      </p:sp>
      <p:sp>
        <p:nvSpPr>
          <p:cNvPr name="TextBox 3" id="3"/>
          <p:cNvSpPr txBox="true"/>
          <p:nvPr/>
        </p:nvSpPr>
        <p:spPr>
          <a:xfrm rot="0">
            <a:off x="2446144" y="1990298"/>
            <a:ext cx="6352463" cy="1041282"/>
          </a:xfrm>
          <a:prstGeom prst="rect">
            <a:avLst/>
          </a:prstGeom>
        </p:spPr>
        <p:txBody>
          <a:bodyPr anchor="t" rtlCol="false" tIns="0" lIns="0" bIns="0" rIns="0">
            <a:spAutoFit/>
          </a:bodyPr>
          <a:lstStyle/>
          <a:p>
            <a:pPr algn="ctr">
              <a:lnSpc>
                <a:spcPts val="8428"/>
              </a:lnSpc>
            </a:pPr>
            <a:r>
              <a:rPr lang="en-US" sz="6020">
                <a:solidFill>
                  <a:srgbClr val="000000"/>
                </a:solidFill>
                <a:latin typeface="The Seasons"/>
              </a:rPr>
              <a:t>Conclusion</a:t>
            </a:r>
          </a:p>
        </p:txBody>
      </p:sp>
      <p:sp>
        <p:nvSpPr>
          <p:cNvPr name="TextBox 4" id="4"/>
          <p:cNvSpPr txBox="true"/>
          <p:nvPr/>
        </p:nvSpPr>
        <p:spPr>
          <a:xfrm rot="0">
            <a:off x="5254778" y="4222830"/>
            <a:ext cx="10278519" cy="3741225"/>
          </a:xfrm>
          <a:prstGeom prst="rect">
            <a:avLst/>
          </a:prstGeom>
        </p:spPr>
        <p:txBody>
          <a:bodyPr anchor="t" rtlCol="false" tIns="0" lIns="0" bIns="0" rIns="0">
            <a:spAutoFit/>
          </a:bodyPr>
          <a:lstStyle/>
          <a:p>
            <a:pPr>
              <a:lnSpc>
                <a:spcPts val="3735"/>
              </a:lnSpc>
            </a:pPr>
            <a:r>
              <a:rPr lang="en-US" sz="2668" spc="266">
                <a:solidFill>
                  <a:srgbClr val="000000"/>
                </a:solidFill>
                <a:latin typeface="Red Hat Display"/>
              </a:rPr>
              <a:t>The impact of our solution is far-reaching. Economically, it provides financial support and resources to orphan or poor family children, offering them opportunities for education, healthcare, and overall better prospects for their future. By connecting them with foster families or sponsors, we empower both the children and the families, fostering economic growth and breaking the cycle of poverty.</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sp>
        <p:nvSpPr>
          <p:cNvPr name="TextBox 2" id="2"/>
          <p:cNvSpPr txBox="true"/>
          <p:nvPr/>
        </p:nvSpPr>
        <p:spPr>
          <a:xfrm rot="0">
            <a:off x="930816" y="2197260"/>
            <a:ext cx="16426368" cy="4937379"/>
          </a:xfrm>
          <a:prstGeom prst="rect">
            <a:avLst/>
          </a:prstGeom>
        </p:spPr>
        <p:txBody>
          <a:bodyPr anchor="t" rtlCol="false" tIns="0" lIns="0" bIns="0" rIns="0">
            <a:spAutoFit/>
          </a:bodyPr>
          <a:lstStyle/>
          <a:p>
            <a:pPr algn="ctr">
              <a:lnSpc>
                <a:spcPts val="38853"/>
              </a:lnSpc>
              <a:spcBef>
                <a:spcPct val="0"/>
              </a:spcBef>
            </a:pPr>
            <a:r>
              <a:rPr lang="en-US" sz="27752">
                <a:solidFill>
                  <a:srgbClr val="FA7B00">
                    <a:alpha val="9804"/>
                  </a:srgbClr>
                </a:solidFill>
                <a:latin typeface="Angella White"/>
              </a:rPr>
              <a:t>Thamk You </a:t>
            </a:r>
          </a:p>
        </p:txBody>
      </p:sp>
      <p:sp>
        <p:nvSpPr>
          <p:cNvPr name="TextBox 3" id="3"/>
          <p:cNvSpPr txBox="true"/>
          <p:nvPr/>
        </p:nvSpPr>
        <p:spPr>
          <a:xfrm rot="0">
            <a:off x="4517299" y="4794537"/>
            <a:ext cx="9253402" cy="2570512"/>
          </a:xfrm>
          <a:prstGeom prst="rect">
            <a:avLst/>
          </a:prstGeom>
        </p:spPr>
        <p:txBody>
          <a:bodyPr anchor="t" rtlCol="false" tIns="0" lIns="0" bIns="0" rIns="0">
            <a:spAutoFit/>
          </a:bodyPr>
          <a:lstStyle/>
          <a:p>
            <a:pPr algn="ctr">
              <a:lnSpc>
                <a:spcPts val="10252"/>
              </a:lnSpc>
            </a:pPr>
            <a:r>
              <a:rPr lang="en-US" sz="7323">
                <a:solidFill>
                  <a:srgbClr val="000000"/>
                </a:solidFill>
                <a:latin typeface="The Seasons"/>
              </a:rPr>
              <a:t>Thank you </a:t>
            </a:r>
          </a:p>
          <a:p>
            <a:pPr algn="ctr">
              <a:lnSpc>
                <a:spcPts val="10252"/>
              </a:lnSpc>
            </a:pPr>
            <a:r>
              <a:rPr lang="en-US" sz="7323">
                <a:solidFill>
                  <a:srgbClr val="000000"/>
                </a:solidFill>
                <a:latin typeface="The Seasons"/>
              </a:rPr>
              <a:t>Listening &amp; Watching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DAFkB9XB1iE</dc:identifier>
  <dcterms:modified xsi:type="dcterms:W3CDTF">2011-08-01T06:04:30Z</dcterms:modified>
  <cp:revision>1</cp:revision>
  <dc:title>Beige Minimalist Beauty Brand Proposal Presentation</dc:title>
</cp:coreProperties>
</file>